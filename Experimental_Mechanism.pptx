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1.xml" ContentType="application/vnd.openxmlformats-officedocument.drawingml.chart+xml"/>
  <Override PartName="/ppt/notesSlides/notesSlide48.xml" ContentType="application/vnd.openxmlformats-officedocument.presentationml.notesSlide+xml"/>
  <Override PartName="/ppt/charts/chart2.xml" ContentType="application/vnd.openxmlformats-officedocument.drawingml.chart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理想学习者：现在是严酷世界的概率</c:v>
                </c:pt>
              </c:strCache>
            </c:strRef>
          </c:tx>
          <c:spPr>
            <a:ln w="29210" cap="flat">
              <a:solidFill>
                <a:srgbClr val="2F62D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Sheet1!$A$2:$A$151</c:f>
              <c:numCache>
                <c:formatCode>General</c:formatCode>
                <c:ptCount val="150"/>
                <c:pt idx="0">
                  <c:v>0</c:v>
                </c:pt>
                <c:pt idx="1">
                  <c:v>1.0000000000000022</c:v>
                </c:pt>
                <c:pt idx="2">
                  <c:v>1.9999999999999996</c:v>
                </c:pt>
                <c:pt idx="3">
                  <c:v>3.0000000000000018</c:v>
                </c:pt>
                <c:pt idx="4">
                  <c:v>3.9999999999999991</c:v>
                </c:pt>
                <c:pt idx="5">
                  <c:v>5.0000000000000018</c:v>
                </c:pt>
                <c:pt idx="6">
                  <c:v>5.9999999999999991</c:v>
                </c:pt>
                <c:pt idx="7">
                  <c:v>7.0000000000000018</c:v>
                </c:pt>
                <c:pt idx="8">
                  <c:v>7.9999999999999982</c:v>
                </c:pt>
                <c:pt idx="9">
                  <c:v>9</c:v>
                </c:pt>
                <c:pt idx="10">
                  <c:v>9.9999999999999982</c:v>
                </c:pt>
                <c:pt idx="11">
                  <c:v>11</c:v>
                </c:pt>
                <c:pt idx="12">
                  <c:v>11.999999999999998</c:v>
                </c:pt>
                <c:pt idx="13">
                  <c:v>13</c:v>
                </c:pt>
                <c:pt idx="14">
                  <c:v>14.000000000000004</c:v>
                </c:pt>
                <c:pt idx="15">
                  <c:v>15</c:v>
                </c:pt>
                <c:pt idx="16">
                  <c:v>15.999999999999996</c:v>
                </c:pt>
                <c:pt idx="17">
                  <c:v>16.999999999999996</c:v>
                </c:pt>
                <c:pt idx="18">
                  <c:v>18</c:v>
                </c:pt>
                <c:pt idx="19">
                  <c:v>18.999999999999996</c:v>
                </c:pt>
                <c:pt idx="20">
                  <c:v>19.999999999999996</c:v>
                </c:pt>
                <c:pt idx="21">
                  <c:v>21.000000000000004</c:v>
                </c:pt>
                <c:pt idx="22">
                  <c:v>22</c:v>
                </c:pt>
                <c:pt idx="23">
                  <c:v>23</c:v>
                </c:pt>
                <c:pt idx="24">
                  <c:v>23.999999999999996</c:v>
                </c:pt>
                <c:pt idx="25">
                  <c:v>24.999999999999993</c:v>
                </c:pt>
                <c:pt idx="26">
                  <c:v>26</c:v>
                </c:pt>
                <c:pt idx="27">
                  <c:v>27</c:v>
                </c:pt>
                <c:pt idx="28">
                  <c:v>28.000000000000007</c:v>
                </c:pt>
                <c:pt idx="29">
                  <c:v>29.000000000000004</c:v>
                </c:pt>
                <c:pt idx="30">
                  <c:v>30</c:v>
                </c:pt>
                <c:pt idx="31">
                  <c:v>30.999999999999996</c:v>
                </c:pt>
                <c:pt idx="32">
                  <c:v>31.999999999999993</c:v>
                </c:pt>
                <c:pt idx="33">
                  <c:v>33</c:v>
                </c:pt>
                <c:pt idx="34">
                  <c:v>34</c:v>
                </c:pt>
                <c:pt idx="35">
                  <c:v>35.000000000000007</c:v>
                </c:pt>
                <c:pt idx="36">
                  <c:v>36</c:v>
                </c:pt>
                <c:pt idx="37">
                  <c:v>37</c:v>
                </c:pt>
                <c:pt idx="38">
                  <c:v>37.999999999999993</c:v>
                </c:pt>
                <c:pt idx="39">
                  <c:v>38.999999999999993</c:v>
                </c:pt>
                <c:pt idx="40">
                  <c:v>39.999999999999993</c:v>
                </c:pt>
                <c:pt idx="41">
                  <c:v>41</c:v>
                </c:pt>
                <c:pt idx="42">
                  <c:v>41.999999999999993</c:v>
                </c:pt>
                <c:pt idx="43">
                  <c:v>42.999999999999993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51.000000000000007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55.000000000000014</c:v>
                </c:pt>
                <c:pt idx="56">
                  <c:v>56.000000000000014</c:v>
                </c:pt>
                <c:pt idx="57">
                  <c:v>57.000000000000007</c:v>
                </c:pt>
                <c:pt idx="58">
                  <c:v>58.000000000000007</c:v>
                </c:pt>
                <c:pt idx="59">
                  <c:v>59.000000000000007</c:v>
                </c:pt>
                <c:pt idx="60">
                  <c:v>60</c:v>
                </c:pt>
                <c:pt idx="61">
                  <c:v>61</c:v>
                </c:pt>
                <c:pt idx="62">
                  <c:v>61.999999999999993</c:v>
                </c:pt>
                <c:pt idx="63">
                  <c:v>62.999999999999986</c:v>
                </c:pt>
                <c:pt idx="64">
                  <c:v>63.999999999999986</c:v>
                </c:pt>
                <c:pt idx="65">
                  <c:v>64.999999999999986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70.000000000000014</c:v>
                </c:pt>
                <c:pt idx="71">
                  <c:v>71.000000000000014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75.999999999999986</c:v>
                </c:pt>
                <c:pt idx="77">
                  <c:v>77</c:v>
                </c:pt>
                <c:pt idx="78">
                  <c:v>77.999999999999986</c:v>
                </c:pt>
                <c:pt idx="79">
                  <c:v>78.999999999999986</c:v>
                </c:pt>
                <c:pt idx="80">
                  <c:v>79.999999999999986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83.999999999999986</c:v>
                </c:pt>
                <c:pt idx="85">
                  <c:v>85</c:v>
                </c:pt>
                <c:pt idx="86">
                  <c:v>85.999999999999986</c:v>
                </c:pt>
                <c:pt idx="87">
                  <c:v>87.000000000000014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95.000000000000014</c:v>
                </c:pt>
                <c:pt idx="96">
                  <c:v>96</c:v>
                </c:pt>
                <c:pt idx="97">
                  <c:v>97.000000000000014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100.99999999999999</c:v>
                </c:pt>
                <c:pt idx="102">
                  <c:v>102.00000000000001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106.99999999999999</c:v>
                </c:pt>
                <c:pt idx="108">
                  <c:v>108</c:v>
                </c:pt>
                <c:pt idx="109">
                  <c:v>109</c:v>
                </c:pt>
                <c:pt idx="110">
                  <c:v>110.00000000000001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114.99999999999999</c:v>
                </c:pt>
                <c:pt idx="116">
                  <c:v>116</c:v>
                </c:pt>
                <c:pt idx="117">
                  <c:v>117</c:v>
                </c:pt>
                <c:pt idx="118">
                  <c:v>118.00000000000001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122.99999999999999</c:v>
                </c:pt>
                <c:pt idx="124">
                  <c:v>124.00000000000001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127.99999999999999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140.00000000000003</c:v>
                </c:pt>
                <c:pt idx="141">
                  <c:v>141</c:v>
                </c:pt>
                <c:pt idx="142">
                  <c:v>142.00000000000003</c:v>
                </c:pt>
                <c:pt idx="143">
                  <c:v>143</c:v>
                </c:pt>
                <c:pt idx="144">
                  <c:v>144</c:v>
                </c:pt>
                <c:pt idx="145">
                  <c:v>144.99999999999997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</c:numCache>
            </c:numRef>
          </c:xVal>
          <c:yVal>
            <c:numRef>
              <c:f>Sheet1!$B$2:$B$151</c:f>
              <c:numCache>
                <c:formatCode>General</c:formatCode>
                <c:ptCount val="150"/>
                <c:pt idx="0">
                  <c:v>0.5</c:v>
                </c:pt>
                <c:pt idx="1">
                  <c:v>0.48170666666666467</c:v>
                </c:pt>
                <c:pt idx="2">
                  <c:v>0.46573861526104143</c:v>
                </c:pt>
                <c:pt idx="3">
                  <c:v>0.4485214762765109</c:v>
                </c:pt>
                <c:pt idx="4">
                  <c:v>0.43281490441152087</c:v>
                </c:pt>
                <c:pt idx="5">
                  <c:v>0.41691509613601607</c:v>
                </c:pt>
                <c:pt idx="6">
                  <c:v>0.40152690057548074</c:v>
                </c:pt>
                <c:pt idx="7">
                  <c:v>0.38602535520512737</c:v>
                </c:pt>
                <c:pt idx="8">
                  <c:v>0.37139782053008452</c:v>
                </c:pt>
                <c:pt idx="9">
                  <c:v>0.35736226289520961</c:v>
                </c:pt>
                <c:pt idx="10">
                  <c:v>0.34455591903563881</c:v>
                </c:pt>
                <c:pt idx="11">
                  <c:v>0.33274746399074923</c:v>
                </c:pt>
                <c:pt idx="12">
                  <c:v>0.32293826808267112</c:v>
                </c:pt>
                <c:pt idx="13">
                  <c:v>0.31252177938463921</c:v>
                </c:pt>
                <c:pt idx="14">
                  <c:v>0.30102918721461785</c:v>
                </c:pt>
                <c:pt idx="15">
                  <c:v>0.2921814723959314</c:v>
                </c:pt>
                <c:pt idx="16">
                  <c:v>0.28302042565966756</c:v>
                </c:pt>
                <c:pt idx="17">
                  <c:v>0.27446196373071724</c:v>
                </c:pt>
                <c:pt idx="18">
                  <c:v>0.26653175309544946</c:v>
                </c:pt>
                <c:pt idx="19">
                  <c:v>0.25943431759633051</c:v>
                </c:pt>
                <c:pt idx="20">
                  <c:v>0.25293297221024691</c:v>
                </c:pt>
                <c:pt idx="21">
                  <c:v>0.24634736202930882</c:v>
                </c:pt>
                <c:pt idx="22">
                  <c:v>0.2406077663173955</c:v>
                </c:pt>
                <c:pt idx="23">
                  <c:v>0.23599775927732092</c:v>
                </c:pt>
                <c:pt idx="24">
                  <c:v>0.23126228259661991</c:v>
                </c:pt>
                <c:pt idx="25">
                  <c:v>0.22701779343295861</c:v>
                </c:pt>
                <c:pt idx="26">
                  <c:v>0.22237914902872019</c:v>
                </c:pt>
                <c:pt idx="27">
                  <c:v>0.21921747433606437</c:v>
                </c:pt>
                <c:pt idx="28">
                  <c:v>0.21502549091398448</c:v>
                </c:pt>
                <c:pt idx="29">
                  <c:v>0.21118742383777819</c:v>
                </c:pt>
                <c:pt idx="30">
                  <c:v>0.20773809244618827</c:v>
                </c:pt>
                <c:pt idx="31">
                  <c:v>0.20507388025886061</c:v>
                </c:pt>
                <c:pt idx="32">
                  <c:v>0.20152147221276501</c:v>
                </c:pt>
                <c:pt idx="33">
                  <c:v>0.19916697016583562</c:v>
                </c:pt>
                <c:pt idx="34">
                  <c:v>0.19729669049728629</c:v>
                </c:pt>
                <c:pt idx="35">
                  <c:v>0.19573660187023245</c:v>
                </c:pt>
                <c:pt idx="36">
                  <c:v>0.193970511907162</c:v>
                </c:pt>
                <c:pt idx="37">
                  <c:v>0.19319726890536118</c:v>
                </c:pt>
                <c:pt idx="38">
                  <c:v>0.19241223018890585</c:v>
                </c:pt>
                <c:pt idx="39">
                  <c:v>0.19049177418146623</c:v>
                </c:pt>
                <c:pt idx="40">
                  <c:v>0.18850245261059204</c:v>
                </c:pt>
                <c:pt idx="41">
                  <c:v>0.18732861685370528</c:v>
                </c:pt>
                <c:pt idx="42">
                  <c:v>0.18568778841400088</c:v>
                </c:pt>
                <c:pt idx="43">
                  <c:v>0.18500939850909356</c:v>
                </c:pt>
                <c:pt idx="44">
                  <c:v>0.18531454819648649</c:v>
                </c:pt>
                <c:pt idx="45">
                  <c:v>0.18372071935855891</c:v>
                </c:pt>
                <c:pt idx="46">
                  <c:v>0.18216978370704917</c:v>
                </c:pt>
                <c:pt idx="47">
                  <c:v>0.18173216594075256</c:v>
                </c:pt>
                <c:pt idx="48">
                  <c:v>0.18000208293202133</c:v>
                </c:pt>
                <c:pt idx="49">
                  <c:v>0.17973885681548479</c:v>
                </c:pt>
                <c:pt idx="50">
                  <c:v>0.17966331532812238</c:v>
                </c:pt>
                <c:pt idx="51">
                  <c:v>0.24839302953960099</c:v>
                </c:pt>
                <c:pt idx="52">
                  <c:v>0.32575430546437911</c:v>
                </c:pt>
                <c:pt idx="53">
                  <c:v>0.37720647075836822</c:v>
                </c:pt>
                <c:pt idx="54">
                  <c:v>0.42704041789780017</c:v>
                </c:pt>
                <c:pt idx="55">
                  <c:v>0.47127006529551135</c:v>
                </c:pt>
                <c:pt idx="56">
                  <c:v>0.51137399487217849</c:v>
                </c:pt>
                <c:pt idx="57">
                  <c:v>0.54237224040747867</c:v>
                </c:pt>
                <c:pt idx="58">
                  <c:v>0.57224249885321699</c:v>
                </c:pt>
                <c:pt idx="59">
                  <c:v>0.59905349125185858</c:v>
                </c:pt>
                <c:pt idx="60">
                  <c:v>0.62193403549541371</c:v>
                </c:pt>
                <c:pt idx="61">
                  <c:v>0.6394968125710625</c:v>
                </c:pt>
                <c:pt idx="62">
                  <c:v>0.65512396223953551</c:v>
                </c:pt>
                <c:pt idx="63">
                  <c:v>0.66646694307085164</c:v>
                </c:pt>
                <c:pt idx="64">
                  <c:v>0.68045350945731897</c:v>
                </c:pt>
                <c:pt idx="65">
                  <c:v>0.6923634922689319</c:v>
                </c:pt>
                <c:pt idx="66">
                  <c:v>0.70001471048476971</c:v>
                </c:pt>
                <c:pt idx="67">
                  <c:v>0.7038020182908129</c:v>
                </c:pt>
                <c:pt idx="68">
                  <c:v>0.70699598310625444</c:v>
                </c:pt>
                <c:pt idx="69">
                  <c:v>0.71319107615000255</c:v>
                </c:pt>
                <c:pt idx="70">
                  <c:v>0.71523220378835417</c:v>
                </c:pt>
                <c:pt idx="71">
                  <c:v>0.71993708149448865</c:v>
                </c:pt>
                <c:pt idx="72">
                  <c:v>0.72349809266307452</c:v>
                </c:pt>
                <c:pt idx="73">
                  <c:v>0.72732360646144278</c:v>
                </c:pt>
                <c:pt idx="74">
                  <c:v>0.73037746899815659</c:v>
                </c:pt>
                <c:pt idx="75">
                  <c:v>0.73171640460567478</c:v>
                </c:pt>
                <c:pt idx="76">
                  <c:v>0.73197997994428066</c:v>
                </c:pt>
                <c:pt idx="77">
                  <c:v>0.73563120341414734</c:v>
                </c:pt>
                <c:pt idx="78">
                  <c:v>0.73347488797455773</c:v>
                </c:pt>
                <c:pt idx="79">
                  <c:v>0.73330900954340406</c:v>
                </c:pt>
                <c:pt idx="80">
                  <c:v>0.73349627585216781</c:v>
                </c:pt>
                <c:pt idx="81">
                  <c:v>0.73297605433452284</c:v>
                </c:pt>
                <c:pt idx="82">
                  <c:v>0.73386259218360606</c:v>
                </c:pt>
                <c:pt idx="83">
                  <c:v>0.73475698340776474</c:v>
                </c:pt>
                <c:pt idx="84">
                  <c:v>0.73290575861224572</c:v>
                </c:pt>
                <c:pt idx="85">
                  <c:v>0.73327610179689173</c:v>
                </c:pt>
                <c:pt idx="86">
                  <c:v>0.73306721339128034</c:v>
                </c:pt>
                <c:pt idx="87">
                  <c:v>0.73406094546374834</c:v>
                </c:pt>
                <c:pt idx="88">
                  <c:v>0.7344669975466418</c:v>
                </c:pt>
                <c:pt idx="89">
                  <c:v>0.73338240662350407</c:v>
                </c:pt>
                <c:pt idx="90">
                  <c:v>0.732450196865849</c:v>
                </c:pt>
                <c:pt idx="91">
                  <c:v>0.73124844233842368</c:v>
                </c:pt>
                <c:pt idx="92">
                  <c:v>0.73283827132538637</c:v>
                </c:pt>
                <c:pt idx="93">
                  <c:v>0.73347070154835914</c:v>
                </c:pt>
                <c:pt idx="94">
                  <c:v>0.73600039512016446</c:v>
                </c:pt>
                <c:pt idx="95">
                  <c:v>0.7366412715928855</c:v>
                </c:pt>
                <c:pt idx="96">
                  <c:v>0.73801160291399392</c:v>
                </c:pt>
                <c:pt idx="97">
                  <c:v>0.73752742124842419</c:v>
                </c:pt>
                <c:pt idx="98">
                  <c:v>0.73845514173646631</c:v>
                </c:pt>
                <c:pt idx="99">
                  <c:v>0.73726709603860274</c:v>
                </c:pt>
                <c:pt idx="100">
                  <c:v>0.73736968492703148</c:v>
                </c:pt>
                <c:pt idx="101">
                  <c:v>0.71687315829722564</c:v>
                </c:pt>
                <c:pt idx="102">
                  <c:v>0.69601775794915999</c:v>
                </c:pt>
                <c:pt idx="103">
                  <c:v>0.67386033164494374</c:v>
                </c:pt>
                <c:pt idx="104">
                  <c:v>0.65205829108442259</c:v>
                </c:pt>
                <c:pt idx="105">
                  <c:v>0.63202804247660127</c:v>
                </c:pt>
                <c:pt idx="106">
                  <c:v>0.60996028915740941</c:v>
                </c:pt>
                <c:pt idx="107">
                  <c:v>0.58996353738654306</c:v>
                </c:pt>
                <c:pt idx="108">
                  <c:v>0.56875211925224856</c:v>
                </c:pt>
                <c:pt idx="109">
                  <c:v>0.54875556121277047</c:v>
                </c:pt>
                <c:pt idx="110">
                  <c:v>0.52978053400526048</c:v>
                </c:pt>
                <c:pt idx="111">
                  <c:v>0.51084383504133257</c:v>
                </c:pt>
                <c:pt idx="112">
                  <c:v>0.49407222361473813</c:v>
                </c:pt>
                <c:pt idx="113">
                  <c:v>0.4770827141049816</c:v>
                </c:pt>
                <c:pt idx="114">
                  <c:v>0.46086521215724163</c:v>
                </c:pt>
                <c:pt idx="115">
                  <c:v>0.44469442227493722</c:v>
                </c:pt>
                <c:pt idx="116">
                  <c:v>0.4286901017987293</c:v>
                </c:pt>
                <c:pt idx="117">
                  <c:v>0.41315965286594375</c:v>
                </c:pt>
                <c:pt idx="118">
                  <c:v>0.40028609907890378</c:v>
                </c:pt>
                <c:pt idx="119">
                  <c:v>0.38650566807198694</c:v>
                </c:pt>
                <c:pt idx="120">
                  <c:v>0.37398176471040773</c:v>
                </c:pt>
                <c:pt idx="121">
                  <c:v>0.36155597427864011</c:v>
                </c:pt>
                <c:pt idx="122">
                  <c:v>0.34951029977521847</c:v>
                </c:pt>
                <c:pt idx="123">
                  <c:v>0.33892483721176259</c:v>
                </c:pt>
                <c:pt idx="124">
                  <c:v>0.32935595492944281</c:v>
                </c:pt>
                <c:pt idx="125">
                  <c:v>0.31983595606267273</c:v>
                </c:pt>
                <c:pt idx="126">
                  <c:v>0.30896105114022088</c:v>
                </c:pt>
                <c:pt idx="127">
                  <c:v>0.29849770582889684</c:v>
                </c:pt>
                <c:pt idx="128">
                  <c:v>0.29027485662632102</c:v>
                </c:pt>
                <c:pt idx="129">
                  <c:v>0.28213770522534659</c:v>
                </c:pt>
                <c:pt idx="130">
                  <c:v>0.27368186472131484</c:v>
                </c:pt>
                <c:pt idx="131">
                  <c:v>0.26612020069129749</c:v>
                </c:pt>
                <c:pt idx="132">
                  <c:v>0.26065241135576067</c:v>
                </c:pt>
                <c:pt idx="133">
                  <c:v>0.25534916271685687</c:v>
                </c:pt>
                <c:pt idx="134">
                  <c:v>0.24916698056750614</c:v>
                </c:pt>
                <c:pt idx="135">
                  <c:v>0.24419289969952324</c:v>
                </c:pt>
                <c:pt idx="136">
                  <c:v>0.23797656518274038</c:v>
                </c:pt>
                <c:pt idx="137">
                  <c:v>0.23233187785450987</c:v>
                </c:pt>
                <c:pt idx="138">
                  <c:v>0.227150278817046</c:v>
                </c:pt>
                <c:pt idx="139">
                  <c:v>0.22328502512803117</c:v>
                </c:pt>
                <c:pt idx="140">
                  <c:v>0.21913370906171004</c:v>
                </c:pt>
                <c:pt idx="141">
                  <c:v>0.21703757254428233</c:v>
                </c:pt>
                <c:pt idx="142">
                  <c:v>0.21387376226222418</c:v>
                </c:pt>
                <c:pt idx="143">
                  <c:v>0.21014245808535389</c:v>
                </c:pt>
                <c:pt idx="144">
                  <c:v>0.20724007446463993</c:v>
                </c:pt>
                <c:pt idx="145">
                  <c:v>0.20407310092064643</c:v>
                </c:pt>
                <c:pt idx="146">
                  <c:v>0.20208799571935857</c:v>
                </c:pt>
                <c:pt idx="147">
                  <c:v>0.20006569302808153</c:v>
                </c:pt>
                <c:pt idx="148">
                  <c:v>0.19712351235397754</c:v>
                </c:pt>
                <c:pt idx="149">
                  <c:v>0.19451733666184134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E8-3147-9484-624ED3BAC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50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2094734552"/>
        <c:crosses val="autoZero"/>
        <c:crossBetween val="midCat"/>
      </c:val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理想学习者：现在是严酷世界的概率</c:v>
                </c:pt>
              </c:strCache>
            </c:strRef>
          </c:tx>
          <c:spPr>
            <a:ln w="29210" cap="flat">
              <a:solidFill>
                <a:srgbClr val="2F62D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Sheet1!$A$2:$A$151</c:f>
              <c:numCache>
                <c:formatCode>General</c:formatCode>
                <c:ptCount val="150"/>
                <c:pt idx="0">
                  <c:v>0</c:v>
                </c:pt>
                <c:pt idx="1">
                  <c:v>1.0000000000000022</c:v>
                </c:pt>
                <c:pt idx="2">
                  <c:v>1.9999999999999996</c:v>
                </c:pt>
                <c:pt idx="3">
                  <c:v>3.0000000000000018</c:v>
                </c:pt>
                <c:pt idx="4">
                  <c:v>3.9999999999999991</c:v>
                </c:pt>
                <c:pt idx="5">
                  <c:v>5.0000000000000018</c:v>
                </c:pt>
                <c:pt idx="6">
                  <c:v>5.9999999999999991</c:v>
                </c:pt>
                <c:pt idx="7">
                  <c:v>7.0000000000000018</c:v>
                </c:pt>
                <c:pt idx="8">
                  <c:v>7.9999999999999982</c:v>
                </c:pt>
                <c:pt idx="9">
                  <c:v>9</c:v>
                </c:pt>
                <c:pt idx="10">
                  <c:v>9.9999999999999982</c:v>
                </c:pt>
                <c:pt idx="11">
                  <c:v>11</c:v>
                </c:pt>
                <c:pt idx="12">
                  <c:v>11.999999999999998</c:v>
                </c:pt>
                <c:pt idx="13">
                  <c:v>13</c:v>
                </c:pt>
                <c:pt idx="14">
                  <c:v>14.000000000000004</c:v>
                </c:pt>
                <c:pt idx="15">
                  <c:v>15</c:v>
                </c:pt>
                <c:pt idx="16">
                  <c:v>15.999999999999996</c:v>
                </c:pt>
                <c:pt idx="17">
                  <c:v>16.999999999999996</c:v>
                </c:pt>
                <c:pt idx="18">
                  <c:v>18</c:v>
                </c:pt>
                <c:pt idx="19">
                  <c:v>18.999999999999996</c:v>
                </c:pt>
                <c:pt idx="20">
                  <c:v>19.999999999999996</c:v>
                </c:pt>
                <c:pt idx="21">
                  <c:v>21.000000000000004</c:v>
                </c:pt>
                <c:pt idx="22">
                  <c:v>22</c:v>
                </c:pt>
                <c:pt idx="23">
                  <c:v>23</c:v>
                </c:pt>
                <c:pt idx="24">
                  <c:v>23.999999999999996</c:v>
                </c:pt>
                <c:pt idx="25">
                  <c:v>24.999999999999993</c:v>
                </c:pt>
                <c:pt idx="26">
                  <c:v>26</c:v>
                </c:pt>
                <c:pt idx="27">
                  <c:v>27</c:v>
                </c:pt>
                <c:pt idx="28">
                  <c:v>28.000000000000007</c:v>
                </c:pt>
                <c:pt idx="29">
                  <c:v>29.000000000000004</c:v>
                </c:pt>
                <c:pt idx="30">
                  <c:v>30</c:v>
                </c:pt>
                <c:pt idx="31">
                  <c:v>30.999999999999996</c:v>
                </c:pt>
                <c:pt idx="32">
                  <c:v>31.999999999999993</c:v>
                </c:pt>
                <c:pt idx="33">
                  <c:v>33</c:v>
                </c:pt>
                <c:pt idx="34">
                  <c:v>34</c:v>
                </c:pt>
                <c:pt idx="35">
                  <c:v>35.000000000000007</c:v>
                </c:pt>
                <c:pt idx="36">
                  <c:v>36</c:v>
                </c:pt>
                <c:pt idx="37">
                  <c:v>37</c:v>
                </c:pt>
                <c:pt idx="38">
                  <c:v>37.999999999999993</c:v>
                </c:pt>
                <c:pt idx="39">
                  <c:v>38.999999999999993</c:v>
                </c:pt>
                <c:pt idx="40">
                  <c:v>39.999999999999993</c:v>
                </c:pt>
                <c:pt idx="41">
                  <c:v>41</c:v>
                </c:pt>
                <c:pt idx="42">
                  <c:v>41.999999999999993</c:v>
                </c:pt>
                <c:pt idx="43">
                  <c:v>42.999999999999993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51.000000000000007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55.000000000000014</c:v>
                </c:pt>
                <c:pt idx="56">
                  <c:v>56.000000000000014</c:v>
                </c:pt>
                <c:pt idx="57">
                  <c:v>57.000000000000007</c:v>
                </c:pt>
                <c:pt idx="58">
                  <c:v>58.000000000000007</c:v>
                </c:pt>
                <c:pt idx="59">
                  <c:v>59.000000000000007</c:v>
                </c:pt>
                <c:pt idx="60">
                  <c:v>60</c:v>
                </c:pt>
                <c:pt idx="61">
                  <c:v>61</c:v>
                </c:pt>
                <c:pt idx="62">
                  <c:v>61.999999999999993</c:v>
                </c:pt>
                <c:pt idx="63">
                  <c:v>62.999999999999986</c:v>
                </c:pt>
                <c:pt idx="64">
                  <c:v>63.999999999999986</c:v>
                </c:pt>
                <c:pt idx="65">
                  <c:v>64.999999999999986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70.000000000000014</c:v>
                </c:pt>
                <c:pt idx="71">
                  <c:v>71.000000000000014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75.999999999999986</c:v>
                </c:pt>
                <c:pt idx="77">
                  <c:v>77</c:v>
                </c:pt>
                <c:pt idx="78">
                  <c:v>77.999999999999986</c:v>
                </c:pt>
                <c:pt idx="79">
                  <c:v>78.999999999999986</c:v>
                </c:pt>
                <c:pt idx="80">
                  <c:v>79.999999999999986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83.999999999999986</c:v>
                </c:pt>
                <c:pt idx="85">
                  <c:v>85</c:v>
                </c:pt>
                <c:pt idx="86">
                  <c:v>85.999999999999986</c:v>
                </c:pt>
                <c:pt idx="87">
                  <c:v>87.000000000000014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95.000000000000014</c:v>
                </c:pt>
                <c:pt idx="96">
                  <c:v>96</c:v>
                </c:pt>
                <c:pt idx="97">
                  <c:v>97.000000000000014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100.99999999999999</c:v>
                </c:pt>
                <c:pt idx="102">
                  <c:v>102.00000000000001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106.99999999999999</c:v>
                </c:pt>
                <c:pt idx="108">
                  <c:v>108</c:v>
                </c:pt>
                <c:pt idx="109">
                  <c:v>109</c:v>
                </c:pt>
                <c:pt idx="110">
                  <c:v>110.00000000000001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114.99999999999999</c:v>
                </c:pt>
                <c:pt idx="116">
                  <c:v>116</c:v>
                </c:pt>
                <c:pt idx="117">
                  <c:v>117</c:v>
                </c:pt>
                <c:pt idx="118">
                  <c:v>118.00000000000001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122.99999999999999</c:v>
                </c:pt>
                <c:pt idx="124">
                  <c:v>124.00000000000001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127.99999999999999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140.00000000000003</c:v>
                </c:pt>
                <c:pt idx="141">
                  <c:v>141</c:v>
                </c:pt>
                <c:pt idx="142">
                  <c:v>142.00000000000003</c:v>
                </c:pt>
                <c:pt idx="143">
                  <c:v>143</c:v>
                </c:pt>
                <c:pt idx="144">
                  <c:v>144</c:v>
                </c:pt>
                <c:pt idx="145">
                  <c:v>144.99999999999997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</c:numCache>
            </c:numRef>
          </c:xVal>
          <c:yVal>
            <c:numRef>
              <c:f>Sheet1!$B$2:$B$151</c:f>
              <c:numCache>
                <c:formatCode>General</c:formatCode>
                <c:ptCount val="150"/>
                <c:pt idx="0">
                  <c:v>0.5</c:v>
                </c:pt>
                <c:pt idx="1">
                  <c:v>0.48170666666666467</c:v>
                </c:pt>
                <c:pt idx="2">
                  <c:v>0.46573861526104143</c:v>
                </c:pt>
                <c:pt idx="3">
                  <c:v>0.4485214762765109</c:v>
                </c:pt>
                <c:pt idx="4">
                  <c:v>0.43281490441152087</c:v>
                </c:pt>
                <c:pt idx="5">
                  <c:v>0.41691509613601607</c:v>
                </c:pt>
                <c:pt idx="6">
                  <c:v>0.40152690057548074</c:v>
                </c:pt>
                <c:pt idx="7">
                  <c:v>0.38602535520512737</c:v>
                </c:pt>
                <c:pt idx="8">
                  <c:v>0.37139782053008452</c:v>
                </c:pt>
                <c:pt idx="9">
                  <c:v>0.35736226289520961</c:v>
                </c:pt>
                <c:pt idx="10">
                  <c:v>0.34455591903563881</c:v>
                </c:pt>
                <c:pt idx="11">
                  <c:v>0.33274746399074923</c:v>
                </c:pt>
                <c:pt idx="12">
                  <c:v>0.32293826808267112</c:v>
                </c:pt>
                <c:pt idx="13">
                  <c:v>0.31252177938463921</c:v>
                </c:pt>
                <c:pt idx="14">
                  <c:v>0.30102918721461785</c:v>
                </c:pt>
                <c:pt idx="15">
                  <c:v>0.2921814723959314</c:v>
                </c:pt>
                <c:pt idx="16">
                  <c:v>0.28302042565966756</c:v>
                </c:pt>
                <c:pt idx="17">
                  <c:v>0.27446196373071724</c:v>
                </c:pt>
                <c:pt idx="18">
                  <c:v>0.26653175309544946</c:v>
                </c:pt>
                <c:pt idx="19">
                  <c:v>0.25943431759633051</c:v>
                </c:pt>
                <c:pt idx="20">
                  <c:v>0.25293297221024691</c:v>
                </c:pt>
                <c:pt idx="21">
                  <c:v>0.24634736202930882</c:v>
                </c:pt>
                <c:pt idx="22">
                  <c:v>0.2406077663173955</c:v>
                </c:pt>
                <c:pt idx="23">
                  <c:v>0.23599775927732092</c:v>
                </c:pt>
                <c:pt idx="24">
                  <c:v>0.23126228259661991</c:v>
                </c:pt>
                <c:pt idx="25">
                  <c:v>0.22701779343295861</c:v>
                </c:pt>
                <c:pt idx="26">
                  <c:v>0.22237914902872019</c:v>
                </c:pt>
                <c:pt idx="27">
                  <c:v>0.21921747433606437</c:v>
                </c:pt>
                <c:pt idx="28">
                  <c:v>0.21502549091398448</c:v>
                </c:pt>
                <c:pt idx="29">
                  <c:v>0.21118742383777819</c:v>
                </c:pt>
                <c:pt idx="30">
                  <c:v>0.20773809244618827</c:v>
                </c:pt>
                <c:pt idx="31">
                  <c:v>0.20507388025886061</c:v>
                </c:pt>
                <c:pt idx="32">
                  <c:v>0.20152147221276501</c:v>
                </c:pt>
                <c:pt idx="33">
                  <c:v>0.19916697016583562</c:v>
                </c:pt>
                <c:pt idx="34">
                  <c:v>0.19729669049728629</c:v>
                </c:pt>
                <c:pt idx="35">
                  <c:v>0.19573660187023245</c:v>
                </c:pt>
                <c:pt idx="36">
                  <c:v>0.193970511907162</c:v>
                </c:pt>
                <c:pt idx="37">
                  <c:v>0.19319726890536118</c:v>
                </c:pt>
                <c:pt idx="38">
                  <c:v>0.19241223018890585</c:v>
                </c:pt>
                <c:pt idx="39">
                  <c:v>0.19049177418146623</c:v>
                </c:pt>
                <c:pt idx="40">
                  <c:v>0.18850245261059204</c:v>
                </c:pt>
                <c:pt idx="41">
                  <c:v>0.18732861685370528</c:v>
                </c:pt>
                <c:pt idx="42">
                  <c:v>0.18568778841400088</c:v>
                </c:pt>
                <c:pt idx="43">
                  <c:v>0.18500939850909356</c:v>
                </c:pt>
                <c:pt idx="44">
                  <c:v>0.18531454819648649</c:v>
                </c:pt>
                <c:pt idx="45">
                  <c:v>0.18372071935855891</c:v>
                </c:pt>
                <c:pt idx="46">
                  <c:v>0.18216978370704917</c:v>
                </c:pt>
                <c:pt idx="47">
                  <c:v>0.18173216594075256</c:v>
                </c:pt>
                <c:pt idx="48">
                  <c:v>0.18000208293202133</c:v>
                </c:pt>
                <c:pt idx="49">
                  <c:v>0.17973885681548479</c:v>
                </c:pt>
                <c:pt idx="50">
                  <c:v>0.17966331532812238</c:v>
                </c:pt>
                <c:pt idx="51">
                  <c:v>0.24839302953960099</c:v>
                </c:pt>
                <c:pt idx="52">
                  <c:v>0.32575430546437911</c:v>
                </c:pt>
                <c:pt idx="53">
                  <c:v>0.37720647075836822</c:v>
                </c:pt>
                <c:pt idx="54">
                  <c:v>0.42704041789780017</c:v>
                </c:pt>
                <c:pt idx="55">
                  <c:v>0.47127006529551135</c:v>
                </c:pt>
                <c:pt idx="56">
                  <c:v>0.51137399487217849</c:v>
                </c:pt>
                <c:pt idx="57">
                  <c:v>0.54237224040747867</c:v>
                </c:pt>
                <c:pt idx="58">
                  <c:v>0.57224249885321699</c:v>
                </c:pt>
                <c:pt idx="59">
                  <c:v>0.59905349125185858</c:v>
                </c:pt>
                <c:pt idx="60">
                  <c:v>0.62193403549541371</c:v>
                </c:pt>
                <c:pt idx="61">
                  <c:v>0.6394968125710625</c:v>
                </c:pt>
                <c:pt idx="62">
                  <c:v>0.65512396223953551</c:v>
                </c:pt>
                <c:pt idx="63">
                  <c:v>0.66646694307085164</c:v>
                </c:pt>
                <c:pt idx="64">
                  <c:v>0.68045350945731897</c:v>
                </c:pt>
                <c:pt idx="65">
                  <c:v>0.6923634922689319</c:v>
                </c:pt>
                <c:pt idx="66">
                  <c:v>0.70001471048476971</c:v>
                </c:pt>
                <c:pt idx="67">
                  <c:v>0.7038020182908129</c:v>
                </c:pt>
                <c:pt idx="68">
                  <c:v>0.70699598310625444</c:v>
                </c:pt>
                <c:pt idx="69">
                  <c:v>0.71319107615000255</c:v>
                </c:pt>
                <c:pt idx="70">
                  <c:v>0.71523220378835417</c:v>
                </c:pt>
                <c:pt idx="71">
                  <c:v>0.71993708149448865</c:v>
                </c:pt>
                <c:pt idx="72">
                  <c:v>0.72349809266307452</c:v>
                </c:pt>
                <c:pt idx="73">
                  <c:v>0.72732360646144278</c:v>
                </c:pt>
                <c:pt idx="74">
                  <c:v>0.73037746899815659</c:v>
                </c:pt>
                <c:pt idx="75">
                  <c:v>0.73171640460567478</c:v>
                </c:pt>
                <c:pt idx="76">
                  <c:v>0.73197997994428066</c:v>
                </c:pt>
                <c:pt idx="77">
                  <c:v>0.73563120341414734</c:v>
                </c:pt>
                <c:pt idx="78">
                  <c:v>0.73347488797455773</c:v>
                </c:pt>
                <c:pt idx="79">
                  <c:v>0.73330900954340406</c:v>
                </c:pt>
                <c:pt idx="80">
                  <c:v>0.73349627585216781</c:v>
                </c:pt>
                <c:pt idx="81">
                  <c:v>0.73297605433452284</c:v>
                </c:pt>
                <c:pt idx="82">
                  <c:v>0.73386259218360606</c:v>
                </c:pt>
                <c:pt idx="83">
                  <c:v>0.73475698340776474</c:v>
                </c:pt>
                <c:pt idx="84">
                  <c:v>0.73290575861224572</c:v>
                </c:pt>
                <c:pt idx="85">
                  <c:v>0.73327610179689173</c:v>
                </c:pt>
                <c:pt idx="86">
                  <c:v>0.73306721339128034</c:v>
                </c:pt>
                <c:pt idx="87">
                  <c:v>0.73406094546374834</c:v>
                </c:pt>
                <c:pt idx="88">
                  <c:v>0.7344669975466418</c:v>
                </c:pt>
                <c:pt idx="89">
                  <c:v>0.73338240662350407</c:v>
                </c:pt>
                <c:pt idx="90">
                  <c:v>0.732450196865849</c:v>
                </c:pt>
                <c:pt idx="91">
                  <c:v>0.73124844233842368</c:v>
                </c:pt>
                <c:pt idx="92">
                  <c:v>0.73283827132538637</c:v>
                </c:pt>
                <c:pt idx="93">
                  <c:v>0.73347070154835914</c:v>
                </c:pt>
                <c:pt idx="94">
                  <c:v>0.73600039512016446</c:v>
                </c:pt>
                <c:pt idx="95">
                  <c:v>0.7366412715928855</c:v>
                </c:pt>
                <c:pt idx="96">
                  <c:v>0.73801160291399392</c:v>
                </c:pt>
                <c:pt idx="97">
                  <c:v>0.73752742124842419</c:v>
                </c:pt>
                <c:pt idx="98">
                  <c:v>0.73845514173646631</c:v>
                </c:pt>
                <c:pt idx="99">
                  <c:v>0.73726709603860274</c:v>
                </c:pt>
                <c:pt idx="100">
                  <c:v>0.73736968492703148</c:v>
                </c:pt>
                <c:pt idx="101">
                  <c:v>0.71687315829722564</c:v>
                </c:pt>
                <c:pt idx="102">
                  <c:v>0.69601775794915999</c:v>
                </c:pt>
                <c:pt idx="103">
                  <c:v>0.67386033164494374</c:v>
                </c:pt>
                <c:pt idx="104">
                  <c:v>0.65205829108442259</c:v>
                </c:pt>
                <c:pt idx="105">
                  <c:v>0.63202804247660127</c:v>
                </c:pt>
                <c:pt idx="106">
                  <c:v>0.60996028915740941</c:v>
                </c:pt>
                <c:pt idx="107">
                  <c:v>0.58996353738654306</c:v>
                </c:pt>
                <c:pt idx="108">
                  <c:v>0.56875211925224856</c:v>
                </c:pt>
                <c:pt idx="109">
                  <c:v>0.54875556121277047</c:v>
                </c:pt>
                <c:pt idx="110">
                  <c:v>0.52978053400526048</c:v>
                </c:pt>
                <c:pt idx="111">
                  <c:v>0.51084383504133257</c:v>
                </c:pt>
                <c:pt idx="112">
                  <c:v>0.49407222361473813</c:v>
                </c:pt>
                <c:pt idx="113">
                  <c:v>0.4770827141049816</c:v>
                </c:pt>
                <c:pt idx="114">
                  <c:v>0.46086521215724163</c:v>
                </c:pt>
                <c:pt idx="115">
                  <c:v>0.44469442227493722</c:v>
                </c:pt>
                <c:pt idx="116">
                  <c:v>0.4286901017987293</c:v>
                </c:pt>
                <c:pt idx="117">
                  <c:v>0.41315965286594375</c:v>
                </c:pt>
                <c:pt idx="118">
                  <c:v>0.40028609907890378</c:v>
                </c:pt>
                <c:pt idx="119">
                  <c:v>0.38650566807198694</c:v>
                </c:pt>
                <c:pt idx="120">
                  <c:v>0.37398176471040773</c:v>
                </c:pt>
                <c:pt idx="121">
                  <c:v>0.36155597427864011</c:v>
                </c:pt>
                <c:pt idx="122">
                  <c:v>0.34951029977521847</c:v>
                </c:pt>
                <c:pt idx="123">
                  <c:v>0.33892483721176259</c:v>
                </c:pt>
                <c:pt idx="124">
                  <c:v>0.32935595492944281</c:v>
                </c:pt>
                <c:pt idx="125">
                  <c:v>0.31983595606267273</c:v>
                </c:pt>
                <c:pt idx="126">
                  <c:v>0.30896105114022088</c:v>
                </c:pt>
                <c:pt idx="127">
                  <c:v>0.29849770582889684</c:v>
                </c:pt>
                <c:pt idx="128">
                  <c:v>0.29027485662632102</c:v>
                </c:pt>
                <c:pt idx="129">
                  <c:v>0.28213770522534659</c:v>
                </c:pt>
                <c:pt idx="130">
                  <c:v>0.27368186472131484</c:v>
                </c:pt>
                <c:pt idx="131">
                  <c:v>0.26612020069129749</c:v>
                </c:pt>
                <c:pt idx="132">
                  <c:v>0.26065241135576067</c:v>
                </c:pt>
                <c:pt idx="133">
                  <c:v>0.25534916271685687</c:v>
                </c:pt>
                <c:pt idx="134">
                  <c:v>0.24916698056750614</c:v>
                </c:pt>
                <c:pt idx="135">
                  <c:v>0.24419289969952324</c:v>
                </c:pt>
                <c:pt idx="136">
                  <c:v>0.23797656518274038</c:v>
                </c:pt>
                <c:pt idx="137">
                  <c:v>0.23233187785450987</c:v>
                </c:pt>
                <c:pt idx="138">
                  <c:v>0.227150278817046</c:v>
                </c:pt>
                <c:pt idx="139">
                  <c:v>0.22328502512803117</c:v>
                </c:pt>
                <c:pt idx="140">
                  <c:v>0.21913370906171004</c:v>
                </c:pt>
                <c:pt idx="141">
                  <c:v>0.21703757254428233</c:v>
                </c:pt>
                <c:pt idx="142">
                  <c:v>0.21387376226222418</c:v>
                </c:pt>
                <c:pt idx="143">
                  <c:v>0.21014245808535389</c:v>
                </c:pt>
                <c:pt idx="144">
                  <c:v>0.20724007446463993</c:v>
                </c:pt>
                <c:pt idx="145">
                  <c:v>0.20407310092064643</c:v>
                </c:pt>
                <c:pt idx="146">
                  <c:v>0.20208799571935857</c:v>
                </c:pt>
                <c:pt idx="147">
                  <c:v>0.20006569302808153</c:v>
                </c:pt>
                <c:pt idx="148">
                  <c:v>0.19712351235397754</c:v>
                </c:pt>
                <c:pt idx="149">
                  <c:v>0.19451733666184134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A44-8948-B031-3A7255EC21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50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2094734552"/>
        <c:crosses val="autoZero"/>
        <c:crossBetween val="midCat"/>
      </c:val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45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region has one high-reliability and one low-reliability cell; which is which is randomly assigned on each round and marked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each step the subject makes one decision: wait one more step (−0.8 points) or submit now. Self-paced, up to 15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click on "Wait one more step" costs 0.8 points and lights up one of the four cells at random, showing ✓ or 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✓ = this cell's region is the correct region; ✗ = it is not. B2 shows ✗, so it also supports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Signals can be wrong: even a high-reliability cell errs 20% of the time. Here B1 falsely shows ✓, and belief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Signals that have appeared stay in the cells as dots, so subjects need not remember them, and memory load cannot explain deviations.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Belief has risen to about 90%, past both worlds' optimal commit points. Keep waiting, or submit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submitting, the correct region and the round score are shown: +10 for a correct answer, a penalty for a wrong one, minus the waiting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only tell subjects that a wrong answer may cost a small or a large penalty (up to 30 points); how often each occurs must be learned from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change partway through without notice; subjects must detect for themselves which world they are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harsh world, waiting longer pays off; in the lenient world, submitting early does. The same strategy is optimal in one world and a deviation in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addresses: none of the three questions — it only excludes subjects who did not understand the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addresses: "computation" — whether deviations come from mis-weighting evidence (inference errors).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addresses: the "world prior" — which world subjects assume they are in before having any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addresses: "deficit vs. mismatch" (whether performance crosses over between worlds) and "lag" (how fast subjects catch up after a switch, and whether entering and leaving the harsh world is asymmetric).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addresses: directly measures "world beliefs," validating the prior and learning process inferred by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addresses: "beliefs vs. preferences" — deviation that disappears once subjects are told reflects belief; deviation that remains reflects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Instructions and practice: getting familiar with the task; practice rounds are unscored and wrong answers are not penalized.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Practice round: wait for evidence and submit just like the real task, but unscored.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Comprehension quiz (4 questions): after a wrong answer the instructions are reviewed; subjects who still misunderstand are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 Baseline: the system decides how many signals appear; subjects cannot decide when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 Baseline: 3 signals → choose a region and report confidence; +1 if correct, but no accuracy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 Baseline: 6 signals → again only choose and report confidence. This isolates "computation" (evidence weighting).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 The prior block starts the real task; subjects only know that a wrong answer may cost a small or a large penalty.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 Prior block: outcomes are withheld round by round, so subjects have no experience of the "world"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 Prior block: waiting here reflects the default assumption subjects bring in (the world prior).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 At the end of the prior block, all outcomes are revealed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④ Main-task stage 1: same world as the prior block (lenient), no switch; round-by-round feedback starts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④ A wrong answer costing only 2 points is evidence favoring the "lenient world."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④ In the lenient world, submitting early pays off: the optimal mean wait is about 2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Interspersed: world-belief probe — asked every 10 rounds to measure the subject's belief about the world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⑤ The world switches to harsh without notice: nothing changes on the subject's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⑤ Main-task stage 2 (harsh): the subject does not know the world changed and still waits 2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⑤ A wrong answer with a large −30 penalty: this single piece of evidence proves the world is now harsh.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⑤ The subject starts waiting longer (5 steps): the optimal mean wait in the harsh world is about 4.7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Interspersed: world-belief probe.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⑥ The world switches back to lenient, again without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⑥ Main-task stage 3 (lenient): the subject still waits 5 steps. Is this lag? Compare with the ideal learner.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⑥ A wrong answer costing only 2 points favors lenient, but one piece is not enough; the ideal learner has not switched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⑥ Only catching up more slowly than the ideal learner counts as true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Interspersed: world-belief probe.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⑦ Informed block: subjects are explicitly told which world they are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⑦ Once subjects are told, deviation caused by beliefs should disappear; what remains reflects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⑦ Second part of the informed block: the other world, also explicitly announced (order counterbalanced between subjects).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⑦ Waiting while knowing the world is harsh shows this person's harsh-world strategy, free of belief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every wrong answer, the ideal learner updates "which world am I in": a single −30 proves the world is harsh; a mere −2 favors lenient at 2:1.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Belief crosses 50% about 6 rounds after entering the harsh world but about 12 after leaving it: cautious play makes fewer errors, so evidence arrives slowly. Only adapting slower than this curve counts as true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0892" y="1394460"/>
            <a:ext cx="7302216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Mechanism Demo</a:t>
            </a:r>
            <a:endParaRPr lang="en-US" sz="3150" dirty="0"/>
          </a:p>
        </p:txBody>
      </p:sp>
      <p:sp>
        <p:nvSpPr>
          <p:cNvPr id="3" name="Text 1"/>
          <p:cNvSpPr txBox="1"/>
          <p:nvPr/>
        </p:nvSpPr>
        <p:spPr>
          <a:xfrm>
            <a:off x="1708099" y="2197395"/>
            <a:ext cx="572780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Irrational behavior in this environment may stem from</a:t>
            </a:r>
            <a:endParaRPr lang="en-US" sz="1580" dirty="0"/>
          </a:p>
        </p:txBody>
      </p:sp>
      <p:sp>
        <p:nvSpPr>
          <p:cNvPr id="4" name="Text 2"/>
          <p:cNvSpPr txBox="1"/>
          <p:nvPr/>
        </p:nvSpPr>
        <p:spPr>
          <a:xfrm>
            <a:off x="2134575" y="2497501"/>
            <a:ext cx="4874941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developed in another environment.</a:t>
            </a:r>
            <a:endParaRPr lang="en-US" sz="1580" dirty="0"/>
          </a:p>
        </p:txBody>
      </p:sp>
      <p:sp>
        <p:nvSpPr>
          <p:cNvPr id="5" name="Text 3"/>
          <p:cNvSpPr txBox="1"/>
          <p:nvPr/>
        </p:nvSpPr>
        <p:spPr>
          <a:xfrm>
            <a:off x="2332360" y="3254715"/>
            <a:ext cx="44792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numbers below are example parameters and can be adjusted</a:t>
            </a:r>
            <a:endParaRPr lang="en-US" sz="10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2009851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Interface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50082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50247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945215" y="605790"/>
            <a:ext cx="96697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41631" y="605790"/>
            <a:ext cx="9746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7250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82213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43021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10" dirty="0"/>
          </a:p>
        </p:txBody>
      </p:sp>
      <p:sp>
        <p:nvSpPr>
          <p:cNvPr id="12" name="Text 10"/>
          <p:cNvSpPr txBox="1"/>
          <p:nvPr/>
        </p:nvSpPr>
        <p:spPr>
          <a:xfrm>
            <a:off x="1534272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857250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64382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943021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10" dirty="0"/>
          </a:p>
        </p:txBody>
      </p:sp>
      <p:sp>
        <p:nvSpPr>
          <p:cNvPr id="16" name="Text 14"/>
          <p:cNvSpPr txBox="1"/>
          <p:nvPr/>
        </p:nvSpPr>
        <p:spPr>
          <a:xfrm>
            <a:off x="1534272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2357415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382469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2443185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010" dirty="0"/>
          </a:p>
        </p:txBody>
      </p:sp>
      <p:sp>
        <p:nvSpPr>
          <p:cNvPr id="20" name="Text 18"/>
          <p:cNvSpPr txBox="1"/>
          <p:nvPr/>
        </p:nvSpPr>
        <p:spPr>
          <a:xfrm>
            <a:off x="3034436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2357415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364547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2443185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010" dirty="0"/>
          </a:p>
        </p:txBody>
      </p:sp>
      <p:sp>
        <p:nvSpPr>
          <p:cNvPr id="24" name="Text 22"/>
          <p:cNvSpPr txBox="1"/>
          <p:nvPr/>
        </p:nvSpPr>
        <p:spPr>
          <a:xfrm>
            <a:off x="3034436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286250" y="1214415"/>
            <a:ext cx="4214835" cy="928665"/>
          </a:xfrm>
          <a:prstGeom prst="roundRect">
            <a:avLst>
              <a:gd name="adj" fmla="val 10772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4500585" y="1375898"/>
            <a:ext cx="23593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answer on each round</a:t>
            </a:r>
            <a:endParaRPr lang="en-US" sz="1130" dirty="0"/>
          </a:p>
        </p:txBody>
      </p:sp>
      <p:sp>
        <p:nvSpPr>
          <p:cNvPr id="27" name="Text 25"/>
          <p:cNvSpPr txBox="1"/>
          <p:nvPr/>
        </p:nvSpPr>
        <p:spPr>
          <a:xfrm>
            <a:off x="4500585" y="1560241"/>
            <a:ext cx="229377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9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 = ?</a:t>
            </a:r>
            <a:endParaRPr lang="en-US" sz="1690" dirty="0"/>
          </a:p>
        </p:txBody>
      </p:sp>
      <p:sp>
        <p:nvSpPr>
          <p:cNvPr id="28" name="Text 26"/>
          <p:cNvSpPr txBox="1"/>
          <p:nvPr/>
        </p:nvSpPr>
        <p:spPr>
          <a:xfrm>
            <a:off x="4500585" y="1899940"/>
            <a:ext cx="277721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or B, 50% each; subjects cannot see it)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4286250" y="2357415"/>
            <a:ext cx="4214835" cy="1357335"/>
          </a:xfrm>
          <a:prstGeom prst="roundRect">
            <a:avLst>
              <a:gd name="adj" fmla="val 7370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4500585" y="2497501"/>
            <a:ext cx="26159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reliability (marked on screen)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4514850" y="2857500"/>
            <a:ext cx="285750" cy="285750"/>
          </a:xfrm>
          <a:prstGeom prst="rect">
            <a:avLst/>
          </a:prstGeom>
          <a:solidFill>
            <a:srgbClr val="FFFFFF"/>
          </a:solidFill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 txBox="1"/>
          <p:nvPr/>
        </p:nvSpPr>
        <p:spPr>
          <a:xfrm>
            <a:off x="4929165" y="2890327"/>
            <a:ext cx="33356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 border = high reliability (80% truthful)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4514850" y="3286171"/>
            <a:ext cx="285750" cy="285750"/>
          </a:xfrm>
          <a:prstGeom prst="rect">
            <a:avLst/>
          </a:prstGeom>
          <a:solidFill>
            <a:srgbClr val="FFFFFF"/>
          </a:solidFill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 txBox="1"/>
          <p:nvPr/>
        </p:nvSpPr>
        <p:spPr>
          <a:xfrm>
            <a:off x="4929165" y="3318998"/>
            <a:ext cx="31926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border = low reliability (60% truthful)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region has one high-reliability and one low-reliability cell; which is which is randomly assigned on each round and marked on screen.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573886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Round: Gather Evidence or Submit?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50082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50247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945215" y="605790"/>
            <a:ext cx="96697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41631" y="605790"/>
            <a:ext cx="9746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7250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82213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43021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10" dirty="0"/>
          </a:p>
        </p:txBody>
      </p:sp>
      <p:sp>
        <p:nvSpPr>
          <p:cNvPr id="12" name="Text 10"/>
          <p:cNvSpPr txBox="1"/>
          <p:nvPr/>
        </p:nvSpPr>
        <p:spPr>
          <a:xfrm>
            <a:off x="1534272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857250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64382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943021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10" dirty="0"/>
          </a:p>
        </p:txBody>
      </p:sp>
      <p:sp>
        <p:nvSpPr>
          <p:cNvPr id="16" name="Text 14"/>
          <p:cNvSpPr txBox="1"/>
          <p:nvPr/>
        </p:nvSpPr>
        <p:spPr>
          <a:xfrm>
            <a:off x="1534272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2357415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382469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2443185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010" dirty="0"/>
          </a:p>
        </p:txBody>
      </p:sp>
      <p:sp>
        <p:nvSpPr>
          <p:cNvPr id="20" name="Text 18"/>
          <p:cNvSpPr txBox="1"/>
          <p:nvPr/>
        </p:nvSpPr>
        <p:spPr>
          <a:xfrm>
            <a:off x="3034436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2357415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364547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2443185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010" dirty="0"/>
          </a:p>
        </p:txBody>
      </p:sp>
      <p:sp>
        <p:nvSpPr>
          <p:cNvPr id="24" name="Text 22"/>
          <p:cNvSpPr txBox="1"/>
          <p:nvPr/>
        </p:nvSpPr>
        <p:spPr>
          <a:xfrm>
            <a:off x="3034436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750082" y="3914821"/>
            <a:ext cx="1357335" cy="357165"/>
          </a:xfrm>
          <a:prstGeom prst="roundRect">
            <a:avLst>
              <a:gd name="adj" fmla="val 19995"/>
            </a:avLst>
          </a:prstGeom>
          <a:solidFill>
            <a:srgbClr val="E5EDFC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4806" y="3952677"/>
            <a:ext cx="110779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one more step</a:t>
            </a:r>
            <a:endParaRPr lang="en-US" sz="790" dirty="0"/>
          </a:p>
        </p:txBody>
      </p:sp>
      <p:sp>
        <p:nvSpPr>
          <p:cNvPr id="27" name="Text 25"/>
          <p:cNvSpPr txBox="1"/>
          <p:nvPr/>
        </p:nvSpPr>
        <p:spPr>
          <a:xfrm>
            <a:off x="1234531" y="4074109"/>
            <a:ext cx="3884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(−0.8)</a:t>
            </a:r>
            <a:endParaRPr lang="en-US" sz="790" dirty="0"/>
          </a:p>
        </p:txBody>
      </p:sp>
      <p:sp>
        <p:nvSpPr>
          <p:cNvPr id="28" name="Shape 26"/>
          <p:cNvSpPr/>
          <p:nvPr/>
        </p:nvSpPr>
        <p:spPr>
          <a:xfrm>
            <a:off x="2178832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2275576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30" name="Text 28"/>
          <p:cNvSpPr txBox="1"/>
          <p:nvPr/>
        </p:nvSpPr>
        <p:spPr>
          <a:xfrm>
            <a:off x="2238908" y="4074109"/>
            <a:ext cx="55860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790" dirty="0"/>
          </a:p>
        </p:txBody>
      </p:sp>
      <p:sp>
        <p:nvSpPr>
          <p:cNvPr id="31" name="Shape 29"/>
          <p:cNvSpPr/>
          <p:nvPr/>
        </p:nvSpPr>
        <p:spPr>
          <a:xfrm>
            <a:off x="2928915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 txBox="1"/>
          <p:nvPr/>
        </p:nvSpPr>
        <p:spPr>
          <a:xfrm>
            <a:off x="3025658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33" name="Text 31"/>
          <p:cNvSpPr txBox="1"/>
          <p:nvPr/>
        </p:nvSpPr>
        <p:spPr>
          <a:xfrm>
            <a:off x="2985607" y="4074109"/>
            <a:ext cx="56519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790" dirty="0"/>
          </a:p>
        </p:txBody>
      </p:sp>
      <p:sp>
        <p:nvSpPr>
          <p:cNvPr id="34" name="Text 32"/>
          <p:cNvSpPr txBox="1"/>
          <p:nvPr/>
        </p:nvSpPr>
        <p:spPr>
          <a:xfrm>
            <a:off x="4286250" y="1197315"/>
            <a:ext cx="38954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observer's belief that "A is the correct region"</a:t>
            </a:r>
            <a:endParaRPr lang="en-US" sz="1130" dirty="0"/>
          </a:p>
        </p:txBody>
      </p:sp>
      <p:sp>
        <p:nvSpPr>
          <p:cNvPr id="35" name="Text 33"/>
          <p:cNvSpPr txBox="1"/>
          <p:nvPr/>
        </p:nvSpPr>
        <p:spPr>
          <a:xfrm>
            <a:off x="4286250" y="1428476"/>
            <a:ext cx="306872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explanation only; subjects cannot see this)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4286250" y="1785915"/>
            <a:ext cx="4214835" cy="214335"/>
          </a:xfrm>
          <a:prstGeom prst="roundRect">
            <a:avLst>
              <a:gd name="adj" fmla="val 26664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393668" y="1785915"/>
            <a:ext cx="3566" cy="214335"/>
          </a:xfrm>
          <a:prstGeom prst="roundRect">
            <a:avLst>
              <a:gd name="adj" fmla="val 51284"/>
            </a:avLst>
          </a:prstGeom>
          <a:solidFill>
            <a:srgbClr val="4D78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393668" y="1743121"/>
            <a:ext cx="91" cy="300015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320961" y="1714500"/>
            <a:ext cx="91" cy="371521"/>
          </a:xfrm>
          <a:prstGeom prst="line">
            <a:avLst/>
          </a:prstGeom>
          <a:noFill/>
          <a:ln w="21431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4898075" y="2087392"/>
            <a:ext cx="2380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world: optimal commit point 72%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7911023" y="1714500"/>
            <a:ext cx="91" cy="528615"/>
          </a:xfrm>
          <a:prstGeom prst="line">
            <a:avLst/>
          </a:prstGeom>
          <a:noFill/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 txBox="1"/>
          <p:nvPr/>
        </p:nvSpPr>
        <p:spPr>
          <a:xfrm>
            <a:off x="5567050" y="2244578"/>
            <a:ext cx="23010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world: optimal commit point 86%</a:t>
            </a:r>
            <a:endParaRPr lang="en-US" sz="840" dirty="0"/>
          </a:p>
        </p:txBody>
      </p:sp>
      <p:sp>
        <p:nvSpPr>
          <p:cNvPr id="43" name="Text 41"/>
          <p:cNvSpPr txBox="1"/>
          <p:nvPr/>
        </p:nvSpPr>
        <p:spPr>
          <a:xfrm>
            <a:off x="4286250" y="2430292"/>
            <a:ext cx="51273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line marks a world's optimal commit point: once belief reaches it, submitting is best.</a:t>
            </a:r>
            <a:endParaRPr lang="en-US" sz="840" dirty="0"/>
          </a:p>
        </p:txBody>
      </p:sp>
      <p:sp>
        <p:nvSpPr>
          <p:cNvPr id="44" name="Text 42"/>
          <p:cNvSpPr txBox="1"/>
          <p:nvPr/>
        </p:nvSpPr>
        <p:spPr>
          <a:xfrm>
            <a:off x="4286250" y="2573213"/>
            <a:ext cx="19509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trigger a world switch.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4286250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10" dirty="0"/>
          </a:p>
        </p:txBody>
      </p:sp>
      <p:sp>
        <p:nvSpPr>
          <p:cNvPr id="46" name="Text 44"/>
          <p:cNvSpPr txBox="1"/>
          <p:nvPr/>
        </p:nvSpPr>
        <p:spPr>
          <a:xfrm>
            <a:off x="8318205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10" dirty="0"/>
          </a:p>
        </p:txBody>
      </p:sp>
      <p:sp>
        <p:nvSpPr>
          <p:cNvPr id="47" name="Text 45"/>
          <p:cNvSpPr txBox="1"/>
          <p:nvPr/>
        </p:nvSpPr>
        <p:spPr>
          <a:xfrm>
            <a:off x="6030559" y="1795973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4286250" y="2857500"/>
            <a:ext cx="4214835" cy="785835"/>
          </a:xfrm>
          <a:prstGeom prst="roundRect">
            <a:avLst>
              <a:gd name="adj" fmla="val 12730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 txBox="1"/>
          <p:nvPr/>
        </p:nvSpPr>
        <p:spPr>
          <a:xfrm>
            <a:off x="4500585" y="2984053"/>
            <a:ext cx="176488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 this round</a:t>
            </a:r>
            <a:endParaRPr lang="en-US" sz="1070" dirty="0"/>
          </a:p>
        </p:txBody>
      </p:sp>
      <p:sp>
        <p:nvSpPr>
          <p:cNvPr id="50" name="Text 48"/>
          <p:cNvSpPr txBox="1"/>
          <p:nvPr/>
        </p:nvSpPr>
        <p:spPr>
          <a:xfrm>
            <a:off x="4500585" y="3221248"/>
            <a:ext cx="107579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steps</a:t>
            </a:r>
            <a:endParaRPr lang="en-US" sz="1910" dirty="0"/>
          </a:p>
        </p:txBody>
      </p:sp>
      <p:sp>
        <p:nvSpPr>
          <p:cNvPr id="51" name="Text 49"/>
          <p:cNvSpPr txBox="1"/>
          <p:nvPr/>
        </p:nvSpPr>
        <p:spPr>
          <a:xfrm>
            <a:off x="5643585" y="3295863"/>
            <a:ext cx="247564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−0.8 × 0 = −0.0</a:t>
            </a:r>
            <a:endParaRPr lang="en-US" sz="1240" dirty="0"/>
          </a:p>
        </p:txBody>
      </p:sp>
      <p:sp>
        <p:nvSpPr>
          <p:cNvPr id="52" name="Shape 50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step the subject makes one decision: wait one more step (−0.8 points) or submit now. Self-paced, up to 15 signals.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573886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Round: Gather Evidence or Submit?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50082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50247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945215" y="605790"/>
            <a:ext cx="96697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41631" y="605790"/>
            <a:ext cx="9746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7250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82213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43021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10" dirty="0"/>
          </a:p>
        </p:txBody>
      </p:sp>
      <p:sp>
        <p:nvSpPr>
          <p:cNvPr id="12" name="Text 10"/>
          <p:cNvSpPr txBox="1"/>
          <p:nvPr/>
        </p:nvSpPr>
        <p:spPr>
          <a:xfrm>
            <a:off x="1534272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985815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48725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 flipV="1">
            <a:off x="1088685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7250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64382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943021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10" dirty="0"/>
          </a:p>
        </p:txBody>
      </p:sp>
      <p:sp>
        <p:nvSpPr>
          <p:cNvPr id="19" name="Text 17"/>
          <p:cNvSpPr txBox="1"/>
          <p:nvPr/>
        </p:nvSpPr>
        <p:spPr>
          <a:xfrm>
            <a:off x="1534272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2357415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382469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443185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010" dirty="0"/>
          </a:p>
        </p:txBody>
      </p:sp>
      <p:sp>
        <p:nvSpPr>
          <p:cNvPr id="23" name="Text 21"/>
          <p:cNvSpPr txBox="1"/>
          <p:nvPr/>
        </p:nvSpPr>
        <p:spPr>
          <a:xfrm>
            <a:off x="3034436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2357415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364547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2443185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010" dirty="0"/>
          </a:p>
        </p:txBody>
      </p:sp>
      <p:sp>
        <p:nvSpPr>
          <p:cNvPr id="27" name="Text 25"/>
          <p:cNvSpPr txBox="1"/>
          <p:nvPr/>
        </p:nvSpPr>
        <p:spPr>
          <a:xfrm>
            <a:off x="3034436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750082" y="3914821"/>
            <a:ext cx="1357335" cy="357165"/>
          </a:xfrm>
          <a:prstGeom prst="roundRect">
            <a:avLst>
              <a:gd name="adj" fmla="val 19995"/>
            </a:avLst>
          </a:prstGeom>
          <a:solidFill>
            <a:srgbClr val="E5EDFC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874806" y="3952677"/>
            <a:ext cx="110779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one more step</a:t>
            </a:r>
            <a:endParaRPr lang="en-US" sz="790" dirty="0"/>
          </a:p>
        </p:txBody>
      </p:sp>
      <p:sp>
        <p:nvSpPr>
          <p:cNvPr id="30" name="Text 28"/>
          <p:cNvSpPr txBox="1"/>
          <p:nvPr/>
        </p:nvSpPr>
        <p:spPr>
          <a:xfrm>
            <a:off x="1234531" y="4074109"/>
            <a:ext cx="3884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(−0.8)</a:t>
            </a:r>
            <a:endParaRPr lang="en-US" sz="790" dirty="0"/>
          </a:p>
        </p:txBody>
      </p:sp>
      <p:sp>
        <p:nvSpPr>
          <p:cNvPr id="31" name="Shape 29"/>
          <p:cNvSpPr/>
          <p:nvPr/>
        </p:nvSpPr>
        <p:spPr>
          <a:xfrm>
            <a:off x="2178832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 txBox="1"/>
          <p:nvPr/>
        </p:nvSpPr>
        <p:spPr>
          <a:xfrm>
            <a:off x="2275576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33" name="Text 31"/>
          <p:cNvSpPr txBox="1"/>
          <p:nvPr/>
        </p:nvSpPr>
        <p:spPr>
          <a:xfrm>
            <a:off x="2238908" y="4074109"/>
            <a:ext cx="55860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2928915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3025658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36" name="Text 34"/>
          <p:cNvSpPr txBox="1"/>
          <p:nvPr/>
        </p:nvSpPr>
        <p:spPr>
          <a:xfrm>
            <a:off x="2985607" y="4074109"/>
            <a:ext cx="56519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790" dirty="0"/>
          </a:p>
        </p:txBody>
      </p:sp>
      <p:sp>
        <p:nvSpPr>
          <p:cNvPr id="37" name="Text 35"/>
          <p:cNvSpPr txBox="1"/>
          <p:nvPr/>
        </p:nvSpPr>
        <p:spPr>
          <a:xfrm>
            <a:off x="4286250" y="1197315"/>
            <a:ext cx="38954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observer's belief that "A is the correct region"</a:t>
            </a:r>
            <a:endParaRPr lang="en-US" sz="1130" dirty="0"/>
          </a:p>
        </p:txBody>
      </p:sp>
      <p:sp>
        <p:nvSpPr>
          <p:cNvPr id="38" name="Text 36"/>
          <p:cNvSpPr txBox="1"/>
          <p:nvPr/>
        </p:nvSpPr>
        <p:spPr>
          <a:xfrm>
            <a:off x="4286250" y="1428476"/>
            <a:ext cx="306872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explanation only; subjects cannot see this)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4286250" y="1785915"/>
            <a:ext cx="4214835" cy="214335"/>
          </a:xfrm>
          <a:prstGeom prst="roundRect">
            <a:avLst>
              <a:gd name="adj" fmla="val 26664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393668" y="1785915"/>
            <a:ext cx="1264432" cy="214335"/>
          </a:xfrm>
          <a:prstGeom prst="roundRect">
            <a:avLst>
              <a:gd name="adj" fmla="val 13353"/>
            </a:avLst>
          </a:prstGeom>
          <a:solidFill>
            <a:srgbClr val="4D78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393668" y="1743121"/>
            <a:ext cx="91" cy="300015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7320961" y="1714500"/>
            <a:ext cx="91" cy="371521"/>
          </a:xfrm>
          <a:prstGeom prst="line">
            <a:avLst/>
          </a:prstGeom>
          <a:noFill/>
          <a:ln w="21431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 txBox="1"/>
          <p:nvPr/>
        </p:nvSpPr>
        <p:spPr>
          <a:xfrm>
            <a:off x="4898075" y="2087392"/>
            <a:ext cx="2380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world: optimal commit point 72%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7911023" y="1714500"/>
            <a:ext cx="91" cy="528615"/>
          </a:xfrm>
          <a:prstGeom prst="line">
            <a:avLst/>
          </a:prstGeom>
          <a:noFill/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 txBox="1"/>
          <p:nvPr/>
        </p:nvSpPr>
        <p:spPr>
          <a:xfrm>
            <a:off x="5567050" y="2244578"/>
            <a:ext cx="23010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world: optimal commit point 86%</a:t>
            </a:r>
            <a:endParaRPr lang="en-US" sz="840" dirty="0"/>
          </a:p>
        </p:txBody>
      </p:sp>
      <p:sp>
        <p:nvSpPr>
          <p:cNvPr id="46" name="Text 44"/>
          <p:cNvSpPr txBox="1"/>
          <p:nvPr/>
        </p:nvSpPr>
        <p:spPr>
          <a:xfrm>
            <a:off x="4286250" y="2430292"/>
            <a:ext cx="51273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line marks a world's optimal commit point: once belief reaches it, submitting is best.</a:t>
            </a:r>
            <a:endParaRPr lang="en-US" sz="840" dirty="0"/>
          </a:p>
        </p:txBody>
      </p:sp>
      <p:sp>
        <p:nvSpPr>
          <p:cNvPr id="47" name="Text 45"/>
          <p:cNvSpPr txBox="1"/>
          <p:nvPr/>
        </p:nvSpPr>
        <p:spPr>
          <a:xfrm>
            <a:off x="4286250" y="2573213"/>
            <a:ext cx="19509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trigger a world switch.</a:t>
            </a:r>
            <a:endParaRPr lang="en-US" sz="840" dirty="0"/>
          </a:p>
        </p:txBody>
      </p:sp>
      <p:sp>
        <p:nvSpPr>
          <p:cNvPr id="48" name="Text 46"/>
          <p:cNvSpPr txBox="1"/>
          <p:nvPr/>
        </p:nvSpPr>
        <p:spPr>
          <a:xfrm>
            <a:off x="4286250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10" dirty="0"/>
          </a:p>
        </p:txBody>
      </p:sp>
      <p:sp>
        <p:nvSpPr>
          <p:cNvPr id="49" name="Text 47"/>
          <p:cNvSpPr txBox="1"/>
          <p:nvPr/>
        </p:nvSpPr>
        <p:spPr>
          <a:xfrm>
            <a:off x="8318205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10" dirty="0"/>
          </a:p>
        </p:txBody>
      </p:sp>
      <p:sp>
        <p:nvSpPr>
          <p:cNvPr id="50" name="Text 48"/>
          <p:cNvSpPr txBox="1"/>
          <p:nvPr/>
        </p:nvSpPr>
        <p:spPr>
          <a:xfrm>
            <a:off x="7294992" y="1795973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4286250" y="2857500"/>
            <a:ext cx="4214835" cy="785835"/>
          </a:xfrm>
          <a:prstGeom prst="roundRect">
            <a:avLst>
              <a:gd name="adj" fmla="val 12730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 txBox="1"/>
          <p:nvPr/>
        </p:nvSpPr>
        <p:spPr>
          <a:xfrm>
            <a:off x="4500585" y="2984053"/>
            <a:ext cx="176488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 this round</a:t>
            </a:r>
            <a:endParaRPr lang="en-US" sz="1070" dirty="0"/>
          </a:p>
        </p:txBody>
      </p:sp>
      <p:sp>
        <p:nvSpPr>
          <p:cNvPr id="53" name="Text 51"/>
          <p:cNvSpPr txBox="1"/>
          <p:nvPr/>
        </p:nvSpPr>
        <p:spPr>
          <a:xfrm>
            <a:off x="4500585" y="3221248"/>
            <a:ext cx="913668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step</a:t>
            </a:r>
            <a:endParaRPr lang="en-US" sz="1910" dirty="0"/>
          </a:p>
        </p:txBody>
      </p:sp>
      <p:sp>
        <p:nvSpPr>
          <p:cNvPr id="54" name="Text 52"/>
          <p:cNvSpPr txBox="1"/>
          <p:nvPr/>
        </p:nvSpPr>
        <p:spPr>
          <a:xfrm>
            <a:off x="5643585" y="3295863"/>
            <a:ext cx="247564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−0.8 × 1 = −0.8</a:t>
            </a:r>
            <a:endParaRPr lang="en-US" sz="1240" dirty="0"/>
          </a:p>
        </p:txBody>
      </p:sp>
      <p:sp>
        <p:nvSpPr>
          <p:cNvPr id="55" name="Shape 53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click on "Wait one more step" costs 0.8 points and lights up one of the four cells at random, showing ✓ or ✗.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573886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Round: Gather Evidence or Submit?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50082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50247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945215" y="605790"/>
            <a:ext cx="96697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41631" y="605790"/>
            <a:ext cx="9746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7250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82213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43021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10" dirty="0"/>
          </a:p>
        </p:txBody>
      </p:sp>
      <p:sp>
        <p:nvSpPr>
          <p:cNvPr id="12" name="Text 10"/>
          <p:cNvSpPr txBox="1"/>
          <p:nvPr/>
        </p:nvSpPr>
        <p:spPr>
          <a:xfrm>
            <a:off x="1534272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985815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48725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 flipV="1">
            <a:off x="1088685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7250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64382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943021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10" dirty="0"/>
          </a:p>
        </p:txBody>
      </p:sp>
      <p:sp>
        <p:nvSpPr>
          <p:cNvPr id="19" name="Text 17"/>
          <p:cNvSpPr txBox="1"/>
          <p:nvPr/>
        </p:nvSpPr>
        <p:spPr>
          <a:xfrm>
            <a:off x="1534272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2357415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382469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443185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010" dirty="0"/>
          </a:p>
        </p:txBody>
      </p:sp>
      <p:sp>
        <p:nvSpPr>
          <p:cNvPr id="23" name="Text 21"/>
          <p:cNvSpPr txBox="1"/>
          <p:nvPr/>
        </p:nvSpPr>
        <p:spPr>
          <a:xfrm>
            <a:off x="3034436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2357415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364547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2443185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010" dirty="0"/>
          </a:p>
        </p:txBody>
      </p:sp>
      <p:sp>
        <p:nvSpPr>
          <p:cNvPr id="27" name="Text 25"/>
          <p:cNvSpPr txBox="1"/>
          <p:nvPr/>
        </p:nvSpPr>
        <p:spPr>
          <a:xfrm>
            <a:off x="3034436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2486071" y="2878897"/>
            <a:ext cx="228600" cy="228600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2556937" y="2949763"/>
            <a:ext cx="86868" cy="8686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 flipV="1">
            <a:off x="2556937" y="2949763"/>
            <a:ext cx="86868" cy="8686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750082" y="3914821"/>
            <a:ext cx="1357335" cy="357165"/>
          </a:xfrm>
          <a:prstGeom prst="roundRect">
            <a:avLst>
              <a:gd name="adj" fmla="val 19995"/>
            </a:avLst>
          </a:prstGeom>
          <a:solidFill>
            <a:srgbClr val="E5EDFC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 txBox="1"/>
          <p:nvPr/>
        </p:nvSpPr>
        <p:spPr>
          <a:xfrm>
            <a:off x="874806" y="3952677"/>
            <a:ext cx="110779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one more step</a:t>
            </a:r>
            <a:endParaRPr lang="en-US" sz="790" dirty="0"/>
          </a:p>
        </p:txBody>
      </p:sp>
      <p:sp>
        <p:nvSpPr>
          <p:cNvPr id="33" name="Text 31"/>
          <p:cNvSpPr txBox="1"/>
          <p:nvPr/>
        </p:nvSpPr>
        <p:spPr>
          <a:xfrm>
            <a:off x="1234531" y="4074109"/>
            <a:ext cx="3884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(−0.8)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2178832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2275576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36" name="Text 34"/>
          <p:cNvSpPr txBox="1"/>
          <p:nvPr/>
        </p:nvSpPr>
        <p:spPr>
          <a:xfrm>
            <a:off x="2238908" y="4074109"/>
            <a:ext cx="55860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2928915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3025658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39" name="Text 37"/>
          <p:cNvSpPr txBox="1"/>
          <p:nvPr/>
        </p:nvSpPr>
        <p:spPr>
          <a:xfrm>
            <a:off x="2985607" y="4074109"/>
            <a:ext cx="56519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790" dirty="0"/>
          </a:p>
        </p:txBody>
      </p:sp>
      <p:sp>
        <p:nvSpPr>
          <p:cNvPr id="40" name="Text 38"/>
          <p:cNvSpPr txBox="1"/>
          <p:nvPr/>
        </p:nvSpPr>
        <p:spPr>
          <a:xfrm>
            <a:off x="4286250" y="1197315"/>
            <a:ext cx="38954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observer's belief that "A is the correct region"</a:t>
            </a:r>
            <a:endParaRPr lang="en-US" sz="1130" dirty="0"/>
          </a:p>
        </p:txBody>
      </p:sp>
      <p:sp>
        <p:nvSpPr>
          <p:cNvPr id="41" name="Text 39"/>
          <p:cNvSpPr txBox="1"/>
          <p:nvPr/>
        </p:nvSpPr>
        <p:spPr>
          <a:xfrm>
            <a:off x="4286250" y="1428476"/>
            <a:ext cx="306872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explanation only; subjects cannot see this)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4286250" y="1785915"/>
            <a:ext cx="4214835" cy="214335"/>
          </a:xfrm>
          <a:prstGeom prst="roundRect">
            <a:avLst>
              <a:gd name="adj" fmla="val 26664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393668" y="1785915"/>
            <a:ext cx="1504645" cy="214335"/>
          </a:xfrm>
          <a:prstGeom prst="roundRect">
            <a:avLst>
              <a:gd name="adj" fmla="val 13353"/>
            </a:avLst>
          </a:prstGeom>
          <a:solidFill>
            <a:srgbClr val="4D78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393668" y="1743121"/>
            <a:ext cx="91" cy="300015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320961" y="1714500"/>
            <a:ext cx="91" cy="371521"/>
          </a:xfrm>
          <a:prstGeom prst="line">
            <a:avLst/>
          </a:prstGeom>
          <a:noFill/>
          <a:ln w="21431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 txBox="1"/>
          <p:nvPr/>
        </p:nvSpPr>
        <p:spPr>
          <a:xfrm>
            <a:off x="4898075" y="2087392"/>
            <a:ext cx="2380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world: optimal commit point 72%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7911023" y="1714500"/>
            <a:ext cx="91" cy="528615"/>
          </a:xfrm>
          <a:prstGeom prst="line">
            <a:avLst/>
          </a:prstGeom>
          <a:noFill/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 txBox="1"/>
          <p:nvPr/>
        </p:nvSpPr>
        <p:spPr>
          <a:xfrm>
            <a:off x="5567050" y="2244578"/>
            <a:ext cx="23010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world: optimal commit point 86%</a:t>
            </a:r>
            <a:endParaRPr lang="en-US" sz="840" dirty="0"/>
          </a:p>
        </p:txBody>
      </p:sp>
      <p:sp>
        <p:nvSpPr>
          <p:cNvPr id="49" name="Text 47"/>
          <p:cNvSpPr txBox="1"/>
          <p:nvPr/>
        </p:nvSpPr>
        <p:spPr>
          <a:xfrm>
            <a:off x="4286250" y="2430292"/>
            <a:ext cx="51273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line marks a world's optimal commit point: once belief reaches it, submitting is best.</a:t>
            </a:r>
            <a:endParaRPr lang="en-US" sz="840" dirty="0"/>
          </a:p>
        </p:txBody>
      </p:sp>
      <p:sp>
        <p:nvSpPr>
          <p:cNvPr id="50" name="Text 48"/>
          <p:cNvSpPr txBox="1"/>
          <p:nvPr/>
        </p:nvSpPr>
        <p:spPr>
          <a:xfrm>
            <a:off x="4286250" y="2573213"/>
            <a:ext cx="19509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trigger a world switch.</a:t>
            </a:r>
            <a:endParaRPr lang="en-US" sz="840" dirty="0"/>
          </a:p>
        </p:txBody>
      </p:sp>
      <p:sp>
        <p:nvSpPr>
          <p:cNvPr id="51" name="Text 49"/>
          <p:cNvSpPr txBox="1"/>
          <p:nvPr/>
        </p:nvSpPr>
        <p:spPr>
          <a:xfrm>
            <a:off x="4286250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10" dirty="0"/>
          </a:p>
        </p:txBody>
      </p:sp>
      <p:sp>
        <p:nvSpPr>
          <p:cNvPr id="52" name="Text 50"/>
          <p:cNvSpPr txBox="1"/>
          <p:nvPr/>
        </p:nvSpPr>
        <p:spPr>
          <a:xfrm>
            <a:off x="8318205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10" dirty="0"/>
          </a:p>
        </p:txBody>
      </p:sp>
      <p:sp>
        <p:nvSpPr>
          <p:cNvPr id="53" name="Text 51"/>
          <p:cNvSpPr txBox="1"/>
          <p:nvPr/>
        </p:nvSpPr>
        <p:spPr>
          <a:xfrm>
            <a:off x="7535205" y="1795973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4286250" y="2857500"/>
            <a:ext cx="4214835" cy="785835"/>
          </a:xfrm>
          <a:prstGeom prst="roundRect">
            <a:avLst>
              <a:gd name="adj" fmla="val 12730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 txBox="1"/>
          <p:nvPr/>
        </p:nvSpPr>
        <p:spPr>
          <a:xfrm>
            <a:off x="4500585" y="2984053"/>
            <a:ext cx="176488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 this round</a:t>
            </a:r>
            <a:endParaRPr lang="en-US" sz="1070" dirty="0"/>
          </a:p>
        </p:txBody>
      </p:sp>
      <p:sp>
        <p:nvSpPr>
          <p:cNvPr id="56" name="Text 54"/>
          <p:cNvSpPr txBox="1"/>
          <p:nvPr/>
        </p:nvSpPr>
        <p:spPr>
          <a:xfrm>
            <a:off x="4500585" y="3221248"/>
            <a:ext cx="107579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steps</a:t>
            </a:r>
            <a:endParaRPr lang="en-US" sz="1910" dirty="0"/>
          </a:p>
        </p:txBody>
      </p:sp>
      <p:sp>
        <p:nvSpPr>
          <p:cNvPr id="57" name="Text 55"/>
          <p:cNvSpPr txBox="1"/>
          <p:nvPr/>
        </p:nvSpPr>
        <p:spPr>
          <a:xfrm>
            <a:off x="5643585" y="3295863"/>
            <a:ext cx="247564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−0.8 × 2 = −1.6</a:t>
            </a:r>
            <a:endParaRPr lang="en-US" sz="1240" dirty="0"/>
          </a:p>
        </p:txBody>
      </p:sp>
      <p:sp>
        <p:nvSpPr>
          <p:cNvPr id="58" name="Shape 56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= this cell's region is the correct region; ✗ = it is not. B2 shows ✗, so it also supports 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573886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Round: Gather Evidence or Submit?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50082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50247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945215" y="605790"/>
            <a:ext cx="96697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41631" y="605790"/>
            <a:ext cx="9746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7250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82213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43021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10" dirty="0"/>
          </a:p>
        </p:txBody>
      </p:sp>
      <p:sp>
        <p:nvSpPr>
          <p:cNvPr id="12" name="Text 10"/>
          <p:cNvSpPr txBox="1"/>
          <p:nvPr/>
        </p:nvSpPr>
        <p:spPr>
          <a:xfrm>
            <a:off x="1534272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985815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48725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 flipV="1">
            <a:off x="1088685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7250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64382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943021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10" dirty="0"/>
          </a:p>
        </p:txBody>
      </p:sp>
      <p:sp>
        <p:nvSpPr>
          <p:cNvPr id="19" name="Text 17"/>
          <p:cNvSpPr txBox="1"/>
          <p:nvPr/>
        </p:nvSpPr>
        <p:spPr>
          <a:xfrm>
            <a:off x="1534272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2357415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382469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443185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010" dirty="0"/>
          </a:p>
        </p:txBody>
      </p:sp>
      <p:sp>
        <p:nvSpPr>
          <p:cNvPr id="23" name="Text 21"/>
          <p:cNvSpPr txBox="1"/>
          <p:nvPr/>
        </p:nvSpPr>
        <p:spPr>
          <a:xfrm>
            <a:off x="3034436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2486071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548890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 flipV="1">
            <a:off x="2588941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2357415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2364547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2443185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010" dirty="0"/>
          </a:p>
        </p:txBody>
      </p:sp>
      <p:sp>
        <p:nvSpPr>
          <p:cNvPr id="30" name="Text 28"/>
          <p:cNvSpPr txBox="1"/>
          <p:nvPr/>
        </p:nvSpPr>
        <p:spPr>
          <a:xfrm>
            <a:off x="3034436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2486071" y="2878897"/>
            <a:ext cx="228600" cy="228600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2556937" y="2949763"/>
            <a:ext cx="86868" cy="8686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 flipV="1">
            <a:off x="2556937" y="2949763"/>
            <a:ext cx="86868" cy="8686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50082" y="3914821"/>
            <a:ext cx="1357335" cy="357165"/>
          </a:xfrm>
          <a:prstGeom prst="roundRect">
            <a:avLst>
              <a:gd name="adj" fmla="val 19995"/>
            </a:avLst>
          </a:prstGeom>
          <a:solidFill>
            <a:srgbClr val="E5EDFC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874806" y="3952677"/>
            <a:ext cx="110779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one more step</a:t>
            </a:r>
            <a:endParaRPr lang="en-US" sz="790" dirty="0"/>
          </a:p>
        </p:txBody>
      </p:sp>
      <p:sp>
        <p:nvSpPr>
          <p:cNvPr id="36" name="Text 34"/>
          <p:cNvSpPr txBox="1"/>
          <p:nvPr/>
        </p:nvSpPr>
        <p:spPr>
          <a:xfrm>
            <a:off x="1234531" y="4074109"/>
            <a:ext cx="3884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(−0.8)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2178832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2275576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39" name="Text 37"/>
          <p:cNvSpPr txBox="1"/>
          <p:nvPr/>
        </p:nvSpPr>
        <p:spPr>
          <a:xfrm>
            <a:off x="2238908" y="4074109"/>
            <a:ext cx="55860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790" dirty="0"/>
          </a:p>
        </p:txBody>
      </p:sp>
      <p:sp>
        <p:nvSpPr>
          <p:cNvPr id="40" name="Shape 38"/>
          <p:cNvSpPr/>
          <p:nvPr/>
        </p:nvSpPr>
        <p:spPr>
          <a:xfrm>
            <a:off x="2928915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 txBox="1"/>
          <p:nvPr/>
        </p:nvSpPr>
        <p:spPr>
          <a:xfrm>
            <a:off x="3025658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42" name="Text 40"/>
          <p:cNvSpPr txBox="1"/>
          <p:nvPr/>
        </p:nvSpPr>
        <p:spPr>
          <a:xfrm>
            <a:off x="2985607" y="4074109"/>
            <a:ext cx="56519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790" dirty="0"/>
          </a:p>
        </p:txBody>
      </p:sp>
      <p:sp>
        <p:nvSpPr>
          <p:cNvPr id="43" name="Text 41"/>
          <p:cNvSpPr txBox="1"/>
          <p:nvPr/>
        </p:nvSpPr>
        <p:spPr>
          <a:xfrm>
            <a:off x="4286250" y="1197315"/>
            <a:ext cx="38954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observer's belief that "A is the correct region"</a:t>
            </a:r>
            <a:endParaRPr lang="en-US" sz="1130" dirty="0"/>
          </a:p>
        </p:txBody>
      </p:sp>
      <p:sp>
        <p:nvSpPr>
          <p:cNvPr id="44" name="Text 42"/>
          <p:cNvSpPr txBox="1"/>
          <p:nvPr/>
        </p:nvSpPr>
        <p:spPr>
          <a:xfrm>
            <a:off x="4286250" y="1428476"/>
            <a:ext cx="306872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explanation only; subjects cannot see this)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4286250" y="1785915"/>
            <a:ext cx="4214835" cy="214335"/>
          </a:xfrm>
          <a:prstGeom prst="roundRect">
            <a:avLst>
              <a:gd name="adj" fmla="val 26664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393668" y="1785915"/>
            <a:ext cx="421447" cy="214335"/>
          </a:xfrm>
          <a:prstGeom prst="roundRect">
            <a:avLst>
              <a:gd name="adj" fmla="val 13353"/>
            </a:avLst>
          </a:prstGeom>
          <a:solidFill>
            <a:srgbClr val="4D78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393668" y="1743121"/>
            <a:ext cx="91" cy="300015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320961" y="1714500"/>
            <a:ext cx="91" cy="371521"/>
          </a:xfrm>
          <a:prstGeom prst="line">
            <a:avLst/>
          </a:prstGeom>
          <a:noFill/>
          <a:ln w="21431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 txBox="1"/>
          <p:nvPr/>
        </p:nvSpPr>
        <p:spPr>
          <a:xfrm>
            <a:off x="4898075" y="2087392"/>
            <a:ext cx="2380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world: optimal commit point 72%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7911023" y="1714500"/>
            <a:ext cx="91" cy="528615"/>
          </a:xfrm>
          <a:prstGeom prst="line">
            <a:avLst/>
          </a:prstGeom>
          <a:noFill/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 txBox="1"/>
          <p:nvPr/>
        </p:nvSpPr>
        <p:spPr>
          <a:xfrm>
            <a:off x="5567050" y="2244578"/>
            <a:ext cx="23010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world: optimal commit point 86%</a:t>
            </a:r>
            <a:endParaRPr lang="en-US" sz="840" dirty="0"/>
          </a:p>
        </p:txBody>
      </p:sp>
      <p:sp>
        <p:nvSpPr>
          <p:cNvPr id="52" name="Text 50"/>
          <p:cNvSpPr txBox="1"/>
          <p:nvPr/>
        </p:nvSpPr>
        <p:spPr>
          <a:xfrm>
            <a:off x="4286250" y="2430292"/>
            <a:ext cx="51273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line marks a world's optimal commit point: once belief reaches it, submitting is best.</a:t>
            </a:r>
            <a:endParaRPr lang="en-US" sz="840" dirty="0"/>
          </a:p>
        </p:txBody>
      </p:sp>
      <p:sp>
        <p:nvSpPr>
          <p:cNvPr id="53" name="Text 51"/>
          <p:cNvSpPr txBox="1"/>
          <p:nvPr/>
        </p:nvSpPr>
        <p:spPr>
          <a:xfrm>
            <a:off x="4286250" y="2573213"/>
            <a:ext cx="19509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trigger a world switch.</a:t>
            </a:r>
            <a:endParaRPr lang="en-US" sz="840" dirty="0"/>
          </a:p>
        </p:txBody>
      </p:sp>
      <p:sp>
        <p:nvSpPr>
          <p:cNvPr id="54" name="Text 52"/>
          <p:cNvSpPr txBox="1"/>
          <p:nvPr/>
        </p:nvSpPr>
        <p:spPr>
          <a:xfrm>
            <a:off x="4286250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10" dirty="0"/>
          </a:p>
        </p:txBody>
      </p:sp>
      <p:sp>
        <p:nvSpPr>
          <p:cNvPr id="55" name="Text 53"/>
          <p:cNvSpPr txBox="1"/>
          <p:nvPr/>
        </p:nvSpPr>
        <p:spPr>
          <a:xfrm>
            <a:off x="8318205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10" dirty="0"/>
          </a:p>
        </p:txBody>
      </p:sp>
      <p:sp>
        <p:nvSpPr>
          <p:cNvPr id="56" name="Text 54"/>
          <p:cNvSpPr txBox="1"/>
          <p:nvPr/>
        </p:nvSpPr>
        <p:spPr>
          <a:xfrm>
            <a:off x="6452006" y="1795973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4286250" y="2857500"/>
            <a:ext cx="4214835" cy="785835"/>
          </a:xfrm>
          <a:prstGeom prst="roundRect">
            <a:avLst>
              <a:gd name="adj" fmla="val 12730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 txBox="1"/>
          <p:nvPr/>
        </p:nvSpPr>
        <p:spPr>
          <a:xfrm>
            <a:off x="4500585" y="2984053"/>
            <a:ext cx="176488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 this round</a:t>
            </a:r>
            <a:endParaRPr lang="en-US" sz="1070" dirty="0"/>
          </a:p>
        </p:txBody>
      </p:sp>
      <p:sp>
        <p:nvSpPr>
          <p:cNvPr id="59" name="Text 57"/>
          <p:cNvSpPr txBox="1"/>
          <p:nvPr/>
        </p:nvSpPr>
        <p:spPr>
          <a:xfrm>
            <a:off x="4500585" y="3221248"/>
            <a:ext cx="107579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steps</a:t>
            </a:r>
            <a:endParaRPr lang="en-US" sz="1910" dirty="0"/>
          </a:p>
        </p:txBody>
      </p:sp>
      <p:sp>
        <p:nvSpPr>
          <p:cNvPr id="60" name="Text 58"/>
          <p:cNvSpPr txBox="1"/>
          <p:nvPr/>
        </p:nvSpPr>
        <p:spPr>
          <a:xfrm>
            <a:off x="5643585" y="3295863"/>
            <a:ext cx="247564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−0.8 × 3 = −2.4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can be wrong: even a high-reliability cell errs 20% of the time. Here B1 falsely shows ✓, and belief drops.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573886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Round: Gather Evidence or Submit?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50082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50247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945215" y="605790"/>
            <a:ext cx="96697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41631" y="605790"/>
            <a:ext cx="9746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7250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82213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43021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10" dirty="0"/>
          </a:p>
        </p:txBody>
      </p:sp>
      <p:sp>
        <p:nvSpPr>
          <p:cNvPr id="12" name="Text 10"/>
          <p:cNvSpPr txBox="1"/>
          <p:nvPr/>
        </p:nvSpPr>
        <p:spPr>
          <a:xfrm>
            <a:off x="1534272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985815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48725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 flipV="1">
            <a:off x="1088685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7250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64382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943021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10" dirty="0"/>
          </a:p>
        </p:txBody>
      </p:sp>
      <p:sp>
        <p:nvSpPr>
          <p:cNvPr id="19" name="Text 17"/>
          <p:cNvSpPr txBox="1"/>
          <p:nvPr/>
        </p:nvSpPr>
        <p:spPr>
          <a:xfrm>
            <a:off x="1534272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985815" y="2878897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048725" y="2995483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 flipV="1">
            <a:off x="1088685" y="2953238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357415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2382469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2443185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010" dirty="0"/>
          </a:p>
        </p:txBody>
      </p:sp>
      <p:sp>
        <p:nvSpPr>
          <p:cNvPr id="26" name="Text 24"/>
          <p:cNvSpPr txBox="1"/>
          <p:nvPr/>
        </p:nvSpPr>
        <p:spPr>
          <a:xfrm>
            <a:off x="3034436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2486071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2548890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 flipV="1">
            <a:off x="2588941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2357415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2364547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 txBox="1"/>
          <p:nvPr/>
        </p:nvSpPr>
        <p:spPr>
          <a:xfrm>
            <a:off x="2443185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010" dirty="0"/>
          </a:p>
        </p:txBody>
      </p:sp>
      <p:sp>
        <p:nvSpPr>
          <p:cNvPr id="33" name="Text 31"/>
          <p:cNvSpPr txBox="1"/>
          <p:nvPr/>
        </p:nvSpPr>
        <p:spPr>
          <a:xfrm>
            <a:off x="3034436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2486071" y="2878897"/>
            <a:ext cx="228600" cy="228600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2556937" y="2949763"/>
            <a:ext cx="86868" cy="8686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 flipV="1">
            <a:off x="2556937" y="2949763"/>
            <a:ext cx="86868" cy="8686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50082" y="3914821"/>
            <a:ext cx="1357335" cy="357165"/>
          </a:xfrm>
          <a:prstGeom prst="roundRect">
            <a:avLst>
              <a:gd name="adj" fmla="val 19995"/>
            </a:avLst>
          </a:prstGeom>
          <a:solidFill>
            <a:srgbClr val="E5EDFC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874806" y="3952677"/>
            <a:ext cx="110779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one more step</a:t>
            </a:r>
            <a:endParaRPr lang="en-US" sz="790" dirty="0"/>
          </a:p>
        </p:txBody>
      </p:sp>
      <p:sp>
        <p:nvSpPr>
          <p:cNvPr id="39" name="Text 37"/>
          <p:cNvSpPr txBox="1"/>
          <p:nvPr/>
        </p:nvSpPr>
        <p:spPr>
          <a:xfrm>
            <a:off x="1234531" y="4074109"/>
            <a:ext cx="3884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(−0.8)</a:t>
            </a:r>
            <a:endParaRPr lang="en-US" sz="790" dirty="0"/>
          </a:p>
        </p:txBody>
      </p:sp>
      <p:sp>
        <p:nvSpPr>
          <p:cNvPr id="40" name="Shape 38"/>
          <p:cNvSpPr/>
          <p:nvPr/>
        </p:nvSpPr>
        <p:spPr>
          <a:xfrm>
            <a:off x="2178832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 txBox="1"/>
          <p:nvPr/>
        </p:nvSpPr>
        <p:spPr>
          <a:xfrm>
            <a:off x="2275576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42" name="Text 40"/>
          <p:cNvSpPr txBox="1"/>
          <p:nvPr/>
        </p:nvSpPr>
        <p:spPr>
          <a:xfrm>
            <a:off x="2238908" y="4074109"/>
            <a:ext cx="55860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790" dirty="0"/>
          </a:p>
        </p:txBody>
      </p:sp>
      <p:sp>
        <p:nvSpPr>
          <p:cNvPr id="43" name="Shape 41"/>
          <p:cNvSpPr/>
          <p:nvPr/>
        </p:nvSpPr>
        <p:spPr>
          <a:xfrm>
            <a:off x="2928915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3025658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45" name="Text 43"/>
          <p:cNvSpPr txBox="1"/>
          <p:nvPr/>
        </p:nvSpPr>
        <p:spPr>
          <a:xfrm>
            <a:off x="2985607" y="4074109"/>
            <a:ext cx="56519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790" dirty="0"/>
          </a:p>
        </p:txBody>
      </p:sp>
      <p:sp>
        <p:nvSpPr>
          <p:cNvPr id="46" name="Text 44"/>
          <p:cNvSpPr txBox="1"/>
          <p:nvPr/>
        </p:nvSpPr>
        <p:spPr>
          <a:xfrm>
            <a:off x="4286250" y="1197315"/>
            <a:ext cx="38954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observer's belief that "A is the correct region"</a:t>
            </a:r>
            <a:endParaRPr lang="en-US" sz="1130" dirty="0"/>
          </a:p>
        </p:txBody>
      </p:sp>
      <p:sp>
        <p:nvSpPr>
          <p:cNvPr id="47" name="Text 45"/>
          <p:cNvSpPr txBox="1"/>
          <p:nvPr/>
        </p:nvSpPr>
        <p:spPr>
          <a:xfrm>
            <a:off x="4286250" y="1428476"/>
            <a:ext cx="306872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explanation only; subjects cannot see this)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4286250" y="1785915"/>
            <a:ext cx="4214835" cy="214335"/>
          </a:xfrm>
          <a:prstGeom prst="roundRect">
            <a:avLst>
              <a:gd name="adj" fmla="val 26664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393668" y="1785915"/>
            <a:ext cx="809244" cy="214335"/>
          </a:xfrm>
          <a:prstGeom prst="roundRect">
            <a:avLst>
              <a:gd name="adj" fmla="val 13353"/>
            </a:avLst>
          </a:prstGeom>
          <a:solidFill>
            <a:srgbClr val="4D78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393668" y="1743121"/>
            <a:ext cx="91" cy="300015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320961" y="1714500"/>
            <a:ext cx="91" cy="371521"/>
          </a:xfrm>
          <a:prstGeom prst="line">
            <a:avLst/>
          </a:prstGeom>
          <a:noFill/>
          <a:ln w="21431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 txBox="1"/>
          <p:nvPr/>
        </p:nvSpPr>
        <p:spPr>
          <a:xfrm>
            <a:off x="4898075" y="2087392"/>
            <a:ext cx="2380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world: optimal commit point 72%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7911023" y="1714500"/>
            <a:ext cx="91" cy="528615"/>
          </a:xfrm>
          <a:prstGeom prst="line">
            <a:avLst/>
          </a:prstGeom>
          <a:noFill/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5567050" y="2244578"/>
            <a:ext cx="23010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world: optimal commit point 86%</a:t>
            </a:r>
            <a:endParaRPr lang="en-US" sz="840" dirty="0"/>
          </a:p>
        </p:txBody>
      </p:sp>
      <p:sp>
        <p:nvSpPr>
          <p:cNvPr id="55" name="Text 53"/>
          <p:cNvSpPr txBox="1"/>
          <p:nvPr/>
        </p:nvSpPr>
        <p:spPr>
          <a:xfrm>
            <a:off x="4286250" y="2430292"/>
            <a:ext cx="51273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line marks a world's optimal commit point: once belief reaches it, submitting is best.</a:t>
            </a:r>
            <a:endParaRPr lang="en-US" sz="840" dirty="0"/>
          </a:p>
        </p:txBody>
      </p:sp>
      <p:sp>
        <p:nvSpPr>
          <p:cNvPr id="56" name="Text 54"/>
          <p:cNvSpPr txBox="1"/>
          <p:nvPr/>
        </p:nvSpPr>
        <p:spPr>
          <a:xfrm>
            <a:off x="4286250" y="2573213"/>
            <a:ext cx="19509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trigger a world switch.</a:t>
            </a:r>
            <a:endParaRPr lang="en-US" sz="840" dirty="0"/>
          </a:p>
        </p:txBody>
      </p:sp>
      <p:sp>
        <p:nvSpPr>
          <p:cNvPr id="57" name="Text 55"/>
          <p:cNvSpPr txBox="1"/>
          <p:nvPr/>
        </p:nvSpPr>
        <p:spPr>
          <a:xfrm>
            <a:off x="4286250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10" dirty="0"/>
          </a:p>
        </p:txBody>
      </p:sp>
      <p:sp>
        <p:nvSpPr>
          <p:cNvPr id="58" name="Text 56"/>
          <p:cNvSpPr txBox="1"/>
          <p:nvPr/>
        </p:nvSpPr>
        <p:spPr>
          <a:xfrm>
            <a:off x="8318205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10" dirty="0"/>
          </a:p>
        </p:txBody>
      </p:sp>
      <p:sp>
        <p:nvSpPr>
          <p:cNvPr id="59" name="Text 57"/>
          <p:cNvSpPr txBox="1"/>
          <p:nvPr/>
        </p:nvSpPr>
        <p:spPr>
          <a:xfrm>
            <a:off x="6839803" y="1795973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960" dirty="0"/>
          </a:p>
        </p:txBody>
      </p:sp>
      <p:sp>
        <p:nvSpPr>
          <p:cNvPr id="60" name="Shape 58"/>
          <p:cNvSpPr/>
          <p:nvPr/>
        </p:nvSpPr>
        <p:spPr>
          <a:xfrm>
            <a:off x="4286250" y="2857500"/>
            <a:ext cx="4214835" cy="785835"/>
          </a:xfrm>
          <a:prstGeom prst="roundRect">
            <a:avLst>
              <a:gd name="adj" fmla="val 12730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 txBox="1"/>
          <p:nvPr/>
        </p:nvSpPr>
        <p:spPr>
          <a:xfrm>
            <a:off x="4500585" y="2984053"/>
            <a:ext cx="176488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 this round</a:t>
            </a:r>
            <a:endParaRPr lang="en-US" sz="1070" dirty="0"/>
          </a:p>
        </p:txBody>
      </p:sp>
      <p:sp>
        <p:nvSpPr>
          <p:cNvPr id="62" name="Text 60"/>
          <p:cNvSpPr txBox="1"/>
          <p:nvPr/>
        </p:nvSpPr>
        <p:spPr>
          <a:xfrm>
            <a:off x="4500585" y="3221248"/>
            <a:ext cx="107579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steps</a:t>
            </a:r>
            <a:endParaRPr lang="en-US" sz="1910" dirty="0"/>
          </a:p>
        </p:txBody>
      </p:sp>
      <p:sp>
        <p:nvSpPr>
          <p:cNvPr id="63" name="Text 61"/>
          <p:cNvSpPr txBox="1"/>
          <p:nvPr/>
        </p:nvSpPr>
        <p:spPr>
          <a:xfrm>
            <a:off x="5643585" y="3295863"/>
            <a:ext cx="247564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−0.8 × 4 = −3.2</a:t>
            </a:r>
            <a:endParaRPr lang="en-US" sz="1240" dirty="0"/>
          </a:p>
        </p:txBody>
      </p:sp>
      <p:sp>
        <p:nvSpPr>
          <p:cNvPr id="64" name="Shape 62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that have appeared stay in the cells as dots, so subjects need not remember them, and memory load cannot explain deviations.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573886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Round: Gather Evidence or Submit?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50082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50247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945215" y="605790"/>
            <a:ext cx="96697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41631" y="605790"/>
            <a:ext cx="9746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7250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82213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43021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10" dirty="0"/>
          </a:p>
        </p:txBody>
      </p:sp>
      <p:sp>
        <p:nvSpPr>
          <p:cNvPr id="12" name="Text 10"/>
          <p:cNvSpPr txBox="1"/>
          <p:nvPr/>
        </p:nvSpPr>
        <p:spPr>
          <a:xfrm>
            <a:off x="1534272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985815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48725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 flipV="1">
            <a:off x="1088685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314450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377361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 flipV="1">
            <a:off x="1417320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57250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4382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943021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10" dirty="0"/>
          </a:p>
        </p:txBody>
      </p:sp>
      <p:sp>
        <p:nvSpPr>
          <p:cNvPr id="22" name="Text 20"/>
          <p:cNvSpPr txBox="1"/>
          <p:nvPr/>
        </p:nvSpPr>
        <p:spPr>
          <a:xfrm>
            <a:off x="1534272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985815" y="2878897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048725" y="2995483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 flipV="1">
            <a:off x="1088685" y="2953238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2357415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2382469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2443185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010" dirty="0"/>
          </a:p>
        </p:txBody>
      </p:sp>
      <p:sp>
        <p:nvSpPr>
          <p:cNvPr id="29" name="Text 27"/>
          <p:cNvSpPr txBox="1"/>
          <p:nvPr/>
        </p:nvSpPr>
        <p:spPr>
          <a:xfrm>
            <a:off x="3034436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2486071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2548890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 flipV="1">
            <a:off x="2588941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2357415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2364547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2443185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010" dirty="0"/>
          </a:p>
        </p:txBody>
      </p:sp>
      <p:sp>
        <p:nvSpPr>
          <p:cNvPr id="36" name="Text 34"/>
          <p:cNvSpPr txBox="1"/>
          <p:nvPr/>
        </p:nvSpPr>
        <p:spPr>
          <a:xfrm>
            <a:off x="3034436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2486071" y="2878897"/>
            <a:ext cx="228600" cy="228600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2556937" y="2949763"/>
            <a:ext cx="86868" cy="8686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 flipV="1">
            <a:off x="2556937" y="2949763"/>
            <a:ext cx="86868" cy="8686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50082" y="3914821"/>
            <a:ext cx="1357335" cy="357165"/>
          </a:xfrm>
          <a:prstGeom prst="roundRect">
            <a:avLst>
              <a:gd name="adj" fmla="val 19995"/>
            </a:avLst>
          </a:prstGeom>
          <a:solidFill>
            <a:srgbClr val="E5EDFC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 txBox="1"/>
          <p:nvPr/>
        </p:nvSpPr>
        <p:spPr>
          <a:xfrm>
            <a:off x="874806" y="3952677"/>
            <a:ext cx="110779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one more step</a:t>
            </a:r>
            <a:endParaRPr lang="en-US" sz="790" dirty="0"/>
          </a:p>
        </p:txBody>
      </p:sp>
      <p:sp>
        <p:nvSpPr>
          <p:cNvPr id="42" name="Text 40"/>
          <p:cNvSpPr txBox="1"/>
          <p:nvPr/>
        </p:nvSpPr>
        <p:spPr>
          <a:xfrm>
            <a:off x="1234531" y="4074109"/>
            <a:ext cx="3884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(−0.8)</a:t>
            </a:r>
            <a:endParaRPr lang="en-US" sz="790" dirty="0"/>
          </a:p>
        </p:txBody>
      </p:sp>
      <p:sp>
        <p:nvSpPr>
          <p:cNvPr id="43" name="Shape 41"/>
          <p:cNvSpPr/>
          <p:nvPr/>
        </p:nvSpPr>
        <p:spPr>
          <a:xfrm>
            <a:off x="2178832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2275576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45" name="Text 43"/>
          <p:cNvSpPr txBox="1"/>
          <p:nvPr/>
        </p:nvSpPr>
        <p:spPr>
          <a:xfrm>
            <a:off x="2238908" y="4074109"/>
            <a:ext cx="55860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790" dirty="0"/>
          </a:p>
        </p:txBody>
      </p:sp>
      <p:sp>
        <p:nvSpPr>
          <p:cNvPr id="46" name="Shape 44"/>
          <p:cNvSpPr/>
          <p:nvPr/>
        </p:nvSpPr>
        <p:spPr>
          <a:xfrm>
            <a:off x="2928915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 txBox="1"/>
          <p:nvPr/>
        </p:nvSpPr>
        <p:spPr>
          <a:xfrm>
            <a:off x="3025658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48" name="Text 46"/>
          <p:cNvSpPr txBox="1"/>
          <p:nvPr/>
        </p:nvSpPr>
        <p:spPr>
          <a:xfrm>
            <a:off x="2985607" y="4074109"/>
            <a:ext cx="56519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790" dirty="0"/>
          </a:p>
        </p:txBody>
      </p:sp>
      <p:sp>
        <p:nvSpPr>
          <p:cNvPr id="49" name="Text 47"/>
          <p:cNvSpPr txBox="1"/>
          <p:nvPr/>
        </p:nvSpPr>
        <p:spPr>
          <a:xfrm>
            <a:off x="4286250" y="1197315"/>
            <a:ext cx="38954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observer's belief that "A is the correct region"</a:t>
            </a:r>
            <a:endParaRPr lang="en-US" sz="1130" dirty="0"/>
          </a:p>
        </p:txBody>
      </p:sp>
      <p:sp>
        <p:nvSpPr>
          <p:cNvPr id="50" name="Text 48"/>
          <p:cNvSpPr txBox="1"/>
          <p:nvPr/>
        </p:nvSpPr>
        <p:spPr>
          <a:xfrm>
            <a:off x="4286250" y="1428476"/>
            <a:ext cx="306872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explanation only; subjects cannot see this)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4286250" y="1785915"/>
            <a:ext cx="4214835" cy="214335"/>
          </a:xfrm>
          <a:prstGeom prst="roundRect">
            <a:avLst>
              <a:gd name="adj" fmla="val 26664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393668" y="1785915"/>
            <a:ext cx="1685971" cy="214335"/>
          </a:xfrm>
          <a:prstGeom prst="roundRect">
            <a:avLst>
              <a:gd name="adj" fmla="val 13353"/>
            </a:avLst>
          </a:prstGeom>
          <a:solidFill>
            <a:srgbClr val="4D78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393668" y="1743121"/>
            <a:ext cx="91" cy="300015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7320961" y="1714500"/>
            <a:ext cx="91" cy="371521"/>
          </a:xfrm>
          <a:prstGeom prst="line">
            <a:avLst/>
          </a:prstGeom>
          <a:noFill/>
          <a:ln w="21431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 txBox="1"/>
          <p:nvPr/>
        </p:nvSpPr>
        <p:spPr>
          <a:xfrm>
            <a:off x="4898075" y="2087392"/>
            <a:ext cx="2380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world: optimal commit point 72%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7911023" y="1714500"/>
            <a:ext cx="91" cy="528615"/>
          </a:xfrm>
          <a:prstGeom prst="line">
            <a:avLst/>
          </a:prstGeom>
          <a:noFill/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 txBox="1"/>
          <p:nvPr/>
        </p:nvSpPr>
        <p:spPr>
          <a:xfrm>
            <a:off x="5567050" y="2244578"/>
            <a:ext cx="23010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world: optimal commit point 86%</a:t>
            </a:r>
            <a:endParaRPr lang="en-US" sz="840" dirty="0"/>
          </a:p>
        </p:txBody>
      </p:sp>
      <p:sp>
        <p:nvSpPr>
          <p:cNvPr id="58" name="Text 56"/>
          <p:cNvSpPr txBox="1"/>
          <p:nvPr/>
        </p:nvSpPr>
        <p:spPr>
          <a:xfrm>
            <a:off x="4286250" y="2430292"/>
            <a:ext cx="51273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line marks a world's optimal commit point: once belief reaches it, submitting is best.</a:t>
            </a:r>
            <a:endParaRPr lang="en-US" sz="840" dirty="0"/>
          </a:p>
        </p:txBody>
      </p:sp>
      <p:sp>
        <p:nvSpPr>
          <p:cNvPr id="59" name="Text 57"/>
          <p:cNvSpPr txBox="1"/>
          <p:nvPr/>
        </p:nvSpPr>
        <p:spPr>
          <a:xfrm>
            <a:off x="4286250" y="2573213"/>
            <a:ext cx="19509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trigger a world switch.</a:t>
            </a:r>
            <a:endParaRPr lang="en-US" sz="840" dirty="0"/>
          </a:p>
        </p:txBody>
      </p:sp>
      <p:sp>
        <p:nvSpPr>
          <p:cNvPr id="60" name="Text 58"/>
          <p:cNvSpPr txBox="1"/>
          <p:nvPr/>
        </p:nvSpPr>
        <p:spPr>
          <a:xfrm>
            <a:off x="4286250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10" dirty="0"/>
          </a:p>
        </p:txBody>
      </p:sp>
      <p:sp>
        <p:nvSpPr>
          <p:cNvPr id="61" name="Text 59"/>
          <p:cNvSpPr txBox="1"/>
          <p:nvPr/>
        </p:nvSpPr>
        <p:spPr>
          <a:xfrm>
            <a:off x="8318205" y="1584747"/>
            <a:ext cx="182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10" dirty="0"/>
          </a:p>
        </p:txBody>
      </p:sp>
      <p:sp>
        <p:nvSpPr>
          <p:cNvPr id="62" name="Text 60"/>
          <p:cNvSpPr txBox="1"/>
          <p:nvPr/>
        </p:nvSpPr>
        <p:spPr>
          <a:xfrm>
            <a:off x="7716439" y="1795973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4286250" y="2857500"/>
            <a:ext cx="4214835" cy="785835"/>
          </a:xfrm>
          <a:prstGeom prst="roundRect">
            <a:avLst>
              <a:gd name="adj" fmla="val 12730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 txBox="1"/>
          <p:nvPr/>
        </p:nvSpPr>
        <p:spPr>
          <a:xfrm>
            <a:off x="4500585" y="2984053"/>
            <a:ext cx="176488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 this round</a:t>
            </a:r>
            <a:endParaRPr lang="en-US" sz="1070" dirty="0"/>
          </a:p>
        </p:txBody>
      </p:sp>
      <p:sp>
        <p:nvSpPr>
          <p:cNvPr id="65" name="Text 63"/>
          <p:cNvSpPr txBox="1"/>
          <p:nvPr/>
        </p:nvSpPr>
        <p:spPr>
          <a:xfrm>
            <a:off x="4500585" y="3221248"/>
            <a:ext cx="107579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steps</a:t>
            </a:r>
            <a:endParaRPr lang="en-US" sz="1910" dirty="0"/>
          </a:p>
        </p:txBody>
      </p:sp>
      <p:sp>
        <p:nvSpPr>
          <p:cNvPr id="66" name="Text 64"/>
          <p:cNvSpPr txBox="1"/>
          <p:nvPr/>
        </p:nvSpPr>
        <p:spPr>
          <a:xfrm>
            <a:off x="5643585" y="3295863"/>
            <a:ext cx="247564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−0.8 × 5 = −4.0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has risen to about 90%, past both worlds' optimal commit points. Keep waiting, or submit now?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3747668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and Feedback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50082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50247" y="928665"/>
            <a:ext cx="1357335" cy="2800350"/>
          </a:xfrm>
          <a:prstGeom prst="roundRect">
            <a:avLst>
              <a:gd name="adj" fmla="val 8421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945215" y="605790"/>
            <a:ext cx="96697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441631" y="605790"/>
            <a:ext cx="9746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9384" y="917966"/>
            <a:ext cx="1378732" cy="2821747"/>
          </a:xfrm>
          <a:prstGeom prst="roundRect">
            <a:avLst>
              <a:gd name="adj" fmla="val 9325"/>
            </a:avLst>
          </a:prstGeom>
          <a:noFill/>
          <a:ln w="35719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57250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82213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943021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10" dirty="0"/>
          </a:p>
        </p:txBody>
      </p:sp>
      <p:sp>
        <p:nvSpPr>
          <p:cNvPr id="13" name="Text 11"/>
          <p:cNvSpPr txBox="1"/>
          <p:nvPr/>
        </p:nvSpPr>
        <p:spPr>
          <a:xfrm>
            <a:off x="1534272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985815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048725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 flipV="1">
            <a:off x="1088685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314450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377361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 flipV="1">
            <a:off x="1417320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57250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4382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943021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10" dirty="0"/>
          </a:p>
        </p:txBody>
      </p:sp>
      <p:sp>
        <p:nvSpPr>
          <p:cNvPr id="23" name="Text 21"/>
          <p:cNvSpPr txBox="1"/>
          <p:nvPr/>
        </p:nvSpPr>
        <p:spPr>
          <a:xfrm>
            <a:off x="1534272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985815" y="2878897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048725" y="2995483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 flipV="1">
            <a:off x="1088685" y="2953238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2357415" y="1228771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2382469" y="1253734"/>
            <a:ext cx="1092982" cy="1092982"/>
          </a:xfrm>
          <a:prstGeom prst="rect">
            <a:avLst/>
          </a:prstGeom>
          <a:noFill/>
          <a:ln w="5000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2443185" y="1270467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010" dirty="0"/>
          </a:p>
        </p:txBody>
      </p:sp>
      <p:sp>
        <p:nvSpPr>
          <p:cNvPr id="30" name="Text 28"/>
          <p:cNvSpPr txBox="1"/>
          <p:nvPr/>
        </p:nvSpPr>
        <p:spPr>
          <a:xfrm>
            <a:off x="3034436" y="127046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2486071" y="1628821"/>
            <a:ext cx="228600" cy="22860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2548890" y="1745407"/>
            <a:ext cx="39959" cy="4114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 flipV="1">
            <a:off x="2588941" y="1703070"/>
            <a:ext cx="68580" cy="83485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2357415" y="2478847"/>
            <a:ext cx="114300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2364547" y="2486071"/>
            <a:ext cx="1128735" cy="1128735"/>
          </a:xfrm>
          <a:prstGeom prst="rect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2443185" y="2520635"/>
            <a:ext cx="2601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010" dirty="0"/>
          </a:p>
        </p:txBody>
      </p:sp>
      <p:sp>
        <p:nvSpPr>
          <p:cNvPr id="37" name="Text 35"/>
          <p:cNvSpPr txBox="1"/>
          <p:nvPr/>
        </p:nvSpPr>
        <p:spPr>
          <a:xfrm>
            <a:off x="3034436" y="2520635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2486071" y="2878897"/>
            <a:ext cx="228600" cy="228600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2556937" y="2949763"/>
            <a:ext cx="86868" cy="8686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 flipV="1">
            <a:off x="2556937" y="2949763"/>
            <a:ext cx="86868" cy="86868"/>
          </a:xfrm>
          <a:prstGeom prst="line">
            <a:avLst/>
          </a:prstGeom>
          <a:noFill/>
          <a:ln w="2514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50082" y="3914821"/>
            <a:ext cx="1357335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 txBox="1"/>
          <p:nvPr/>
        </p:nvSpPr>
        <p:spPr>
          <a:xfrm>
            <a:off x="874806" y="3952677"/>
            <a:ext cx="110779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one more step</a:t>
            </a:r>
            <a:endParaRPr lang="en-US" sz="790" dirty="0"/>
          </a:p>
        </p:txBody>
      </p:sp>
      <p:sp>
        <p:nvSpPr>
          <p:cNvPr id="43" name="Text 41"/>
          <p:cNvSpPr txBox="1"/>
          <p:nvPr/>
        </p:nvSpPr>
        <p:spPr>
          <a:xfrm>
            <a:off x="1234531" y="4074109"/>
            <a:ext cx="3884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(−0.8)</a:t>
            </a:r>
            <a:endParaRPr lang="en-US" sz="790" dirty="0"/>
          </a:p>
        </p:txBody>
      </p:sp>
      <p:sp>
        <p:nvSpPr>
          <p:cNvPr id="44" name="Shape 42"/>
          <p:cNvSpPr/>
          <p:nvPr/>
        </p:nvSpPr>
        <p:spPr>
          <a:xfrm>
            <a:off x="2178832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 txBox="1"/>
          <p:nvPr/>
        </p:nvSpPr>
        <p:spPr>
          <a:xfrm>
            <a:off x="2275576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46" name="Text 44"/>
          <p:cNvSpPr txBox="1"/>
          <p:nvPr/>
        </p:nvSpPr>
        <p:spPr>
          <a:xfrm>
            <a:off x="2238908" y="4074109"/>
            <a:ext cx="55860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790" dirty="0"/>
          </a:p>
        </p:txBody>
      </p:sp>
      <p:sp>
        <p:nvSpPr>
          <p:cNvPr id="47" name="Shape 45"/>
          <p:cNvSpPr/>
          <p:nvPr/>
        </p:nvSpPr>
        <p:spPr>
          <a:xfrm>
            <a:off x="2928915" y="3914821"/>
            <a:ext cx="678668" cy="357165"/>
          </a:xfrm>
          <a:prstGeom prst="roundRect">
            <a:avLst>
              <a:gd name="adj" fmla="val 19995"/>
            </a:avLst>
          </a:prstGeom>
          <a:solidFill>
            <a:srgbClr val="FFFFFF"/>
          </a:solidFill>
          <a:ln w="10716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 txBox="1"/>
          <p:nvPr/>
        </p:nvSpPr>
        <p:spPr>
          <a:xfrm>
            <a:off x="3025658" y="3952677"/>
            <a:ext cx="48518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790" dirty="0"/>
          </a:p>
        </p:txBody>
      </p:sp>
      <p:sp>
        <p:nvSpPr>
          <p:cNvPr id="49" name="Text 47"/>
          <p:cNvSpPr txBox="1"/>
          <p:nvPr/>
        </p:nvSpPr>
        <p:spPr>
          <a:xfrm>
            <a:off x="2985607" y="4074109"/>
            <a:ext cx="56519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790" dirty="0"/>
          </a:p>
        </p:txBody>
      </p:sp>
      <p:sp>
        <p:nvSpPr>
          <p:cNvPr id="50" name="Shape 48"/>
          <p:cNvSpPr/>
          <p:nvPr/>
        </p:nvSpPr>
        <p:spPr>
          <a:xfrm>
            <a:off x="4286250" y="1071585"/>
            <a:ext cx="4214835" cy="264316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 txBox="1"/>
          <p:nvPr/>
        </p:nvSpPr>
        <p:spPr>
          <a:xfrm>
            <a:off x="4500585" y="1232977"/>
            <a:ext cx="18347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(about 1.5 s)</a:t>
            </a:r>
            <a:endParaRPr lang="en-US" sz="1130" dirty="0"/>
          </a:p>
        </p:txBody>
      </p:sp>
      <p:sp>
        <p:nvSpPr>
          <p:cNvPr id="52" name="Text 50"/>
          <p:cNvSpPr txBox="1"/>
          <p:nvPr/>
        </p:nvSpPr>
        <p:spPr>
          <a:xfrm>
            <a:off x="4500585" y="1542501"/>
            <a:ext cx="2457267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A</a:t>
            </a:r>
            <a:endParaRPr lang="en-US" sz="1910" dirty="0"/>
          </a:p>
        </p:txBody>
      </p:sp>
      <p:sp>
        <p:nvSpPr>
          <p:cNvPr id="53" name="Text 51"/>
          <p:cNvSpPr txBox="1"/>
          <p:nvPr/>
        </p:nvSpPr>
        <p:spPr>
          <a:xfrm>
            <a:off x="4500585" y="2120859"/>
            <a:ext cx="158255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460" dirty="0"/>
          </a:p>
        </p:txBody>
      </p:sp>
      <p:sp>
        <p:nvSpPr>
          <p:cNvPr id="54" name="Text 52"/>
          <p:cNvSpPr txBox="1"/>
          <p:nvPr/>
        </p:nvSpPr>
        <p:spPr>
          <a:xfrm>
            <a:off x="7778984" y="2117385"/>
            <a:ext cx="507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69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690" dirty="0"/>
          </a:p>
        </p:txBody>
      </p:sp>
      <p:sp>
        <p:nvSpPr>
          <p:cNvPr id="55" name="Text 53"/>
          <p:cNvSpPr txBox="1"/>
          <p:nvPr/>
        </p:nvSpPr>
        <p:spPr>
          <a:xfrm>
            <a:off x="4500585" y="2563795"/>
            <a:ext cx="153756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Waited 5 steps</a:t>
            </a:r>
            <a:endParaRPr lang="en-US" sz="1460" dirty="0"/>
          </a:p>
        </p:txBody>
      </p:sp>
      <p:sp>
        <p:nvSpPr>
          <p:cNvPr id="56" name="Text 54"/>
          <p:cNvSpPr txBox="1"/>
          <p:nvPr/>
        </p:nvSpPr>
        <p:spPr>
          <a:xfrm>
            <a:off x="7707569" y="2560320"/>
            <a:ext cx="5791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69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−4.0</a:t>
            </a:r>
            <a:endParaRPr lang="en-US" sz="1690" dirty="0"/>
          </a:p>
        </p:txBody>
      </p:sp>
      <p:sp>
        <p:nvSpPr>
          <p:cNvPr id="57" name="Shape 55"/>
          <p:cNvSpPr/>
          <p:nvPr/>
        </p:nvSpPr>
        <p:spPr>
          <a:xfrm>
            <a:off x="4500585" y="2957535"/>
            <a:ext cx="3786165" cy="91"/>
          </a:xfrm>
          <a:prstGeom prst="line">
            <a:avLst/>
          </a:prstGeom>
          <a:noFill/>
          <a:ln w="14288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 txBox="1"/>
          <p:nvPr/>
        </p:nvSpPr>
        <p:spPr>
          <a:xfrm>
            <a:off x="4500585" y="3006639"/>
            <a:ext cx="143368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</a:t>
            </a:r>
            <a:endParaRPr lang="en-US" sz="1460" dirty="0"/>
          </a:p>
        </p:txBody>
      </p:sp>
      <p:sp>
        <p:nvSpPr>
          <p:cNvPr id="59" name="Text 57"/>
          <p:cNvSpPr txBox="1"/>
          <p:nvPr/>
        </p:nvSpPr>
        <p:spPr>
          <a:xfrm>
            <a:off x="7707569" y="3003255"/>
            <a:ext cx="5791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69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+6.0</a:t>
            </a:r>
            <a:endParaRPr lang="en-US" sz="1690" dirty="0"/>
          </a:p>
        </p:txBody>
      </p:sp>
      <p:sp>
        <p:nvSpPr>
          <p:cNvPr id="60" name="Shape 58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submitting, the correct region and the round score are shown: +10 for a correct answer, a penalty for a wrong one, minus the waiting cost.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7693487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Wrong Answer Cost? The Hidden "World"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85835" y="928665"/>
            <a:ext cx="3571921" cy="2535997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85835" y="928665"/>
            <a:ext cx="3571921" cy="428671"/>
          </a:xfrm>
          <a:prstGeom prst="roundRect">
            <a:avLst>
              <a:gd name="adj" fmla="val 29991"/>
            </a:avLst>
          </a:prstGeom>
          <a:solidFill>
            <a:srgbClr val="E2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755922" y="982980"/>
            <a:ext cx="1631655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1580" dirty="0"/>
          </a:p>
        </p:txBody>
      </p:sp>
      <p:sp>
        <p:nvSpPr>
          <p:cNvPr id="8" name="Text 6"/>
          <p:cNvSpPr txBox="1"/>
          <p:nvPr/>
        </p:nvSpPr>
        <p:spPr>
          <a:xfrm>
            <a:off x="1000171" y="1551097"/>
            <a:ext cx="146660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722888" y="1551097"/>
            <a:ext cx="42053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0171" y="1979676"/>
            <a:ext cx="242800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extra step of waiting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65647" y="1979676"/>
            <a:ext cx="47768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00171" y="2408347"/>
            <a:ext cx="13944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answer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837371" y="2408347"/>
            <a:ext cx="3060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86335" y="928665"/>
            <a:ext cx="3571921" cy="2535997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86335" y="928665"/>
            <a:ext cx="3571921" cy="428671"/>
          </a:xfrm>
          <a:prstGeom prst="roundRect">
            <a:avLst>
              <a:gd name="adj" fmla="val 29991"/>
            </a:avLst>
          </a:prstGeom>
          <a:solidFill>
            <a:srgbClr val="FCE6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5843016" y="982980"/>
            <a:ext cx="145846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1580" dirty="0"/>
          </a:p>
        </p:txBody>
      </p:sp>
      <p:sp>
        <p:nvSpPr>
          <p:cNvPr id="17" name="Text 15"/>
          <p:cNvSpPr txBox="1"/>
          <p:nvPr/>
        </p:nvSpPr>
        <p:spPr>
          <a:xfrm>
            <a:off x="5000671" y="1551097"/>
            <a:ext cx="146660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23388" y="1551097"/>
            <a:ext cx="42053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00671" y="1979676"/>
            <a:ext cx="242800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extra step of waiting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666147" y="1979676"/>
            <a:ext cx="47768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000671" y="2408347"/>
            <a:ext cx="13944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answer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300204" y="2408347"/>
            <a:ext cx="84362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50%: −2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185812" y="2665476"/>
            <a:ext cx="9581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50%: −30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43585" y="3000421"/>
            <a:ext cx="1857421" cy="328635"/>
          </a:xfrm>
          <a:prstGeom prst="roundRect">
            <a:avLst>
              <a:gd name="adj" fmla="val 26099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5664342" y="3027487"/>
            <a:ext cx="18158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penalty −30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only tell subjects that a wrong answer may cost a small or a large penalty (up to 30 points); how often each occurs must be learned from experience.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7693487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Wrong Answer Cost? The Hidden "World"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85835" y="928665"/>
            <a:ext cx="3571921" cy="2535997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85835" y="928665"/>
            <a:ext cx="3571921" cy="428671"/>
          </a:xfrm>
          <a:prstGeom prst="roundRect">
            <a:avLst>
              <a:gd name="adj" fmla="val 29991"/>
            </a:avLst>
          </a:prstGeom>
          <a:solidFill>
            <a:srgbClr val="E2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755922" y="982980"/>
            <a:ext cx="1631655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1580" dirty="0"/>
          </a:p>
        </p:txBody>
      </p:sp>
      <p:sp>
        <p:nvSpPr>
          <p:cNvPr id="8" name="Text 6"/>
          <p:cNvSpPr txBox="1"/>
          <p:nvPr/>
        </p:nvSpPr>
        <p:spPr>
          <a:xfrm>
            <a:off x="1000171" y="1551097"/>
            <a:ext cx="146660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722888" y="1551097"/>
            <a:ext cx="42053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0171" y="1979676"/>
            <a:ext cx="242800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extra step of waiting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65647" y="1979676"/>
            <a:ext cx="47768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00171" y="2408347"/>
            <a:ext cx="13944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answer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837371" y="2408347"/>
            <a:ext cx="3060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86335" y="928665"/>
            <a:ext cx="3571921" cy="2535997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86335" y="928665"/>
            <a:ext cx="3571921" cy="428671"/>
          </a:xfrm>
          <a:prstGeom prst="roundRect">
            <a:avLst>
              <a:gd name="adj" fmla="val 29991"/>
            </a:avLst>
          </a:prstGeom>
          <a:solidFill>
            <a:srgbClr val="FCE6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5843016" y="982980"/>
            <a:ext cx="145846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1580" dirty="0"/>
          </a:p>
        </p:txBody>
      </p:sp>
      <p:sp>
        <p:nvSpPr>
          <p:cNvPr id="17" name="Text 15"/>
          <p:cNvSpPr txBox="1"/>
          <p:nvPr/>
        </p:nvSpPr>
        <p:spPr>
          <a:xfrm>
            <a:off x="5000671" y="1551097"/>
            <a:ext cx="146660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23388" y="1551097"/>
            <a:ext cx="42053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00671" y="1979676"/>
            <a:ext cx="242800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extra step of waiting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666147" y="1979676"/>
            <a:ext cx="47768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000671" y="2408347"/>
            <a:ext cx="13944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answer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300204" y="2408347"/>
            <a:ext cx="84362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50%: −2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185812" y="2665476"/>
            <a:ext cx="9581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50%: −30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465143" y="3731941"/>
            <a:ext cx="6213805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start from an initial endowment of 100; losses are deducted from it.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change partway through without notice; subjects must detect for themselves which world they are in.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6213988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Worlds Call for Opposite Strategies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1143000" y="910651"/>
            <a:ext cx="731648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needed before submitting (ideal observer, computed by dynamic programming)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1143000" y="1643085"/>
            <a:ext cx="6858000" cy="91"/>
          </a:xfrm>
          <a:prstGeom prst="line">
            <a:avLst/>
          </a:prstGeom>
          <a:noFill/>
          <a:ln w="21431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143000" y="1585935"/>
            <a:ext cx="91" cy="114300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952896" y="175619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2514600" y="1585935"/>
            <a:ext cx="91" cy="114300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2324496" y="175619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3886200" y="1585935"/>
            <a:ext cx="91" cy="114300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696096" y="175619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5257800" y="1585935"/>
            <a:ext cx="91" cy="114300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5067696" y="175619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6629400" y="1585935"/>
            <a:ext cx="91" cy="114300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39296" y="1756197"/>
            <a:ext cx="380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8001000" y="1585935"/>
            <a:ext cx="91" cy="114300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768011" y="1756197"/>
            <a:ext cx="46607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4074841" y="1557315"/>
            <a:ext cx="171450" cy="171450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3511936" y="1177290"/>
            <a:ext cx="1297168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1143000" y="2143171"/>
            <a:ext cx="3286171" cy="1214415"/>
          </a:xfrm>
          <a:prstGeom prst="roundRect">
            <a:avLst>
              <a:gd name="adj" fmla="val 8237"/>
            </a:avLst>
          </a:prstGeom>
          <a:solidFill>
            <a:srgbClr val="FFFFFF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1314450" y="2252899"/>
            <a:ext cx="1297168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1240" dirty="0"/>
          </a:p>
        </p:txBody>
      </p:sp>
      <p:sp>
        <p:nvSpPr>
          <p:cNvPr id="23" name="Text 21"/>
          <p:cNvSpPr txBox="1"/>
          <p:nvPr/>
        </p:nvSpPr>
        <p:spPr>
          <a:xfrm>
            <a:off x="1314450" y="2591227"/>
            <a:ext cx="1301831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≈ 72%</a:t>
            </a:r>
            <a:endParaRPr lang="en-US" sz="1070" dirty="0"/>
          </a:p>
        </p:txBody>
      </p:sp>
      <p:sp>
        <p:nvSpPr>
          <p:cNvPr id="24" name="Text 22"/>
          <p:cNvSpPr txBox="1"/>
          <p:nvPr/>
        </p:nvSpPr>
        <p:spPr>
          <a:xfrm>
            <a:off x="2886121" y="2591227"/>
            <a:ext cx="165497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wait ≈ 2.0 steps</a:t>
            </a:r>
            <a:endParaRPr lang="en-US" sz="1070" dirty="0"/>
          </a:p>
        </p:txBody>
      </p:sp>
      <p:sp>
        <p:nvSpPr>
          <p:cNvPr id="25" name="Text 23"/>
          <p:cNvSpPr txBox="1"/>
          <p:nvPr/>
        </p:nvSpPr>
        <p:spPr>
          <a:xfrm>
            <a:off x="1314450" y="2934127"/>
            <a:ext cx="1247242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≈ 80%</a:t>
            </a:r>
            <a:endParaRPr lang="en-US" sz="1070" dirty="0"/>
          </a:p>
        </p:txBody>
      </p:sp>
      <p:sp>
        <p:nvSpPr>
          <p:cNvPr id="26" name="Text 24"/>
          <p:cNvSpPr txBox="1"/>
          <p:nvPr/>
        </p:nvSpPr>
        <p:spPr>
          <a:xfrm>
            <a:off x="2886121" y="2934127"/>
            <a:ext cx="1455999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round ≈ 6.1 pts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5995081" y="1557315"/>
            <a:ext cx="171450" cy="171450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5500116" y="1177290"/>
            <a:ext cx="116119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4714921" y="2143171"/>
            <a:ext cx="3286171" cy="1214415"/>
          </a:xfrm>
          <a:prstGeom prst="roundRect">
            <a:avLst>
              <a:gd name="adj" fmla="val 8237"/>
            </a:avLst>
          </a:prstGeom>
          <a:solidFill>
            <a:srgbClr val="FFFFFF"/>
          </a:solidFill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4886371" y="2252899"/>
            <a:ext cx="116119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1240" dirty="0"/>
          </a:p>
        </p:txBody>
      </p:sp>
      <p:sp>
        <p:nvSpPr>
          <p:cNvPr id="31" name="Text 29"/>
          <p:cNvSpPr txBox="1"/>
          <p:nvPr/>
        </p:nvSpPr>
        <p:spPr>
          <a:xfrm>
            <a:off x="4886371" y="2591227"/>
            <a:ext cx="1301831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≈ 86%</a:t>
            </a:r>
            <a:endParaRPr lang="en-US" sz="1070" dirty="0"/>
          </a:p>
        </p:txBody>
      </p:sp>
      <p:sp>
        <p:nvSpPr>
          <p:cNvPr id="32" name="Text 30"/>
          <p:cNvSpPr txBox="1"/>
          <p:nvPr/>
        </p:nvSpPr>
        <p:spPr>
          <a:xfrm>
            <a:off x="6457950" y="2591227"/>
            <a:ext cx="165497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wait ≈ 4.7 steps</a:t>
            </a:r>
            <a:endParaRPr lang="en-US" sz="1070" dirty="0"/>
          </a:p>
        </p:txBody>
      </p:sp>
      <p:sp>
        <p:nvSpPr>
          <p:cNvPr id="33" name="Text 31"/>
          <p:cNvSpPr txBox="1"/>
          <p:nvPr/>
        </p:nvSpPr>
        <p:spPr>
          <a:xfrm>
            <a:off x="4886371" y="2934127"/>
            <a:ext cx="1247242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≈ 92%</a:t>
            </a:r>
            <a:endParaRPr lang="en-US" sz="1070" dirty="0"/>
          </a:p>
        </p:txBody>
      </p:sp>
      <p:sp>
        <p:nvSpPr>
          <p:cNvPr id="34" name="Text 32"/>
          <p:cNvSpPr txBox="1"/>
          <p:nvPr/>
        </p:nvSpPr>
        <p:spPr>
          <a:xfrm>
            <a:off x="6457950" y="2934127"/>
            <a:ext cx="1455999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round ≈ 4.2 pts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1143000" y="3571921"/>
            <a:ext cx="6858000" cy="571500"/>
          </a:xfrm>
          <a:prstGeom prst="roundRect">
            <a:avLst>
              <a:gd name="adj" fmla="val 17504"/>
            </a:avLst>
          </a:prstGeom>
          <a:solidFill>
            <a:srgbClr val="FFF8E6"/>
          </a:solidFill>
          <a:ln w="14288">
            <a:solidFill>
              <a:srgbClr val="FFD6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944850" y="3749040"/>
            <a:ext cx="7254392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 cost: the wrong world's strategy loses ≈ 0.8 points per round, symmetric in both directions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harsh world, waiting longer pays off; in the lenient world, submitting early does. The same strategy is optimal in one world and a deviation in the other.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734034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Structure of the Whole Session (≈ 226 rounds)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50153" y="1643085"/>
            <a:ext cx="528615" cy="500085"/>
          </a:xfrm>
          <a:prstGeom prst="roundRect">
            <a:avLst>
              <a:gd name="adj" fmla="val 14281"/>
            </a:avLst>
          </a:prstGeom>
          <a:solidFill>
            <a:srgbClr val="BEC4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1840" y="1801642"/>
            <a:ext cx="6052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28482" y="2215957"/>
            <a:ext cx="5718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rounds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1521653" y="1643085"/>
            <a:ext cx="885871" cy="500085"/>
          </a:xfrm>
          <a:prstGeom prst="roundRect">
            <a:avLst>
              <a:gd name="adj" fmla="val 14281"/>
            </a:avLst>
          </a:prstGeom>
          <a:solidFill>
            <a:srgbClr val="DEE2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629095" y="1795973"/>
            <a:ext cx="67080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1642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rounds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450318" y="1643085"/>
            <a:ext cx="671535" cy="500085"/>
          </a:xfrm>
          <a:prstGeom prst="roundRect">
            <a:avLst>
              <a:gd name="adj" fmla="val 14281"/>
            </a:avLst>
          </a:prstGeom>
          <a:solidFill>
            <a:srgbClr val="D7E4D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92070" y="1801642"/>
            <a:ext cx="7879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464399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rounds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164647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C1DFD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3178729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3500232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521982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ECC7C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4536064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4857567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879318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C1DFD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5893308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6214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236653" y="1643085"/>
            <a:ext cx="957285" cy="500085"/>
          </a:xfrm>
          <a:prstGeom prst="roundRect">
            <a:avLst>
              <a:gd name="adj" fmla="val 14281"/>
            </a:avLst>
          </a:prstGeom>
          <a:solidFill>
            <a:srgbClr val="D7D5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7157283" y="1795973"/>
            <a:ext cx="111602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7320229" y="2215957"/>
            <a:ext cx="789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2×15 rounds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4001323" y="1174455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2842870" y="1360170"/>
            <a:ext cx="467276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2: harsh → lenient → harsh (counterbalanced between subjects)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28665" y="2786085"/>
            <a:ext cx="7286671" cy="100017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1143000" y="2943271"/>
            <a:ext cx="6958035" cy="47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Instructions, practice, comprehension quiz (6 rounds): practice is unscored and wrong answers are not penalized; a 4-question quiz, with the instructions reviewed again after any wrong answer.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addresses: none of the three questions — it only excludes subjects who did not understand the rules.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734034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Structure of the Whole Session (≈ 226 rounds)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50153" y="1643085"/>
            <a:ext cx="528615" cy="500085"/>
          </a:xfrm>
          <a:prstGeom prst="roundRect">
            <a:avLst>
              <a:gd name="adj" fmla="val 14281"/>
            </a:avLst>
          </a:prstGeom>
          <a:solidFill>
            <a:srgbClr val="E8EBE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1840" y="1801642"/>
            <a:ext cx="6052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28482" y="2215957"/>
            <a:ext cx="5718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rounds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1521653" y="1643085"/>
            <a:ext cx="885871" cy="500085"/>
          </a:xfrm>
          <a:prstGeom prst="roundRect">
            <a:avLst>
              <a:gd name="adj" fmla="val 14281"/>
            </a:avLst>
          </a:prstGeom>
          <a:solidFill>
            <a:srgbClr val="96A0B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629095" y="1795973"/>
            <a:ext cx="67080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1642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rounds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450318" y="1643085"/>
            <a:ext cx="671535" cy="500085"/>
          </a:xfrm>
          <a:prstGeom prst="roundRect">
            <a:avLst>
              <a:gd name="adj" fmla="val 14281"/>
            </a:avLst>
          </a:prstGeom>
          <a:solidFill>
            <a:srgbClr val="D7E4D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92070" y="1801642"/>
            <a:ext cx="7879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464399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rounds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164647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C1DFD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3178729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3500232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521982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ECC7C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4536064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4857567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879318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C1DFD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5893308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6214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236653" y="1643085"/>
            <a:ext cx="957285" cy="500085"/>
          </a:xfrm>
          <a:prstGeom prst="roundRect">
            <a:avLst>
              <a:gd name="adj" fmla="val 14281"/>
            </a:avLst>
          </a:prstGeom>
          <a:solidFill>
            <a:srgbClr val="D7D5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7157283" y="1795973"/>
            <a:ext cx="111602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7320229" y="2215957"/>
            <a:ext cx="789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2×15 rounds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4001323" y="1174455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2842870" y="1360170"/>
            <a:ext cx="467276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2: harsh → lenient → harsh (counterbalanced between subjects)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28665" y="2786085"/>
            <a:ext cx="7286671" cy="100017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1143000" y="2943271"/>
            <a:ext cx="6958035" cy="707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Baseline: fixed-sample inference (30 rounds): the system directly presents 1–8 signals; subjects cannot decide when to stop and only choose a region and report their confidence; +1 if correct, no penalties, no round-by-round feedback.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addresses: "computation" — whether deviations come from mis-weighting evidence (inference errors).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734034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Structure of the Whole Session (≈ 226 rounds)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50153" y="1643085"/>
            <a:ext cx="528615" cy="500085"/>
          </a:xfrm>
          <a:prstGeom prst="roundRect">
            <a:avLst>
              <a:gd name="adj" fmla="val 14281"/>
            </a:avLst>
          </a:prstGeom>
          <a:solidFill>
            <a:srgbClr val="E8EBE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1840" y="1801642"/>
            <a:ext cx="6052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28482" y="2215957"/>
            <a:ext cx="5718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rounds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1521653" y="1643085"/>
            <a:ext cx="885871" cy="500085"/>
          </a:xfrm>
          <a:prstGeom prst="roundRect">
            <a:avLst>
              <a:gd name="adj" fmla="val 14281"/>
            </a:avLst>
          </a:prstGeom>
          <a:solidFill>
            <a:srgbClr val="DEE2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629095" y="1795973"/>
            <a:ext cx="67080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1642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rounds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450318" y="1643085"/>
            <a:ext cx="671535" cy="500085"/>
          </a:xfrm>
          <a:prstGeom prst="roundRect">
            <a:avLst>
              <a:gd name="adj" fmla="val 14281"/>
            </a:avLst>
          </a:prstGeom>
          <a:solidFill>
            <a:srgbClr val="78AA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92070" y="1801642"/>
            <a:ext cx="7879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464399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rounds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164647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C1DFD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3178729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3500232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521982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ECC7C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4536064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4857567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879318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C1DFD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5893308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6214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236653" y="1643085"/>
            <a:ext cx="957285" cy="500085"/>
          </a:xfrm>
          <a:prstGeom prst="roundRect">
            <a:avLst>
              <a:gd name="adj" fmla="val 14281"/>
            </a:avLst>
          </a:prstGeom>
          <a:solidFill>
            <a:srgbClr val="D7D5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7157283" y="1795973"/>
            <a:ext cx="111602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7320229" y="2215957"/>
            <a:ext cx="789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2×15 rounds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4001323" y="1174455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2842870" y="1360170"/>
            <a:ext cx="467276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2: harsh → lenient → harsh (counterbalanced between subjects)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28665" y="2786085"/>
            <a:ext cx="7286671" cy="100017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1143000" y="2943271"/>
            <a:ext cx="6958035" cy="47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Prior block (10 rounds): same world as main-task stage 1, with no switch between them; round-by-round outcomes are withheld and revealed all at once at the end of the block.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addresses: the "world prior" — which world subjects assume they are in before having any experience.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734034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Structure of the Whole Session (≈ 226 rounds)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50153" y="1643085"/>
            <a:ext cx="528615" cy="500085"/>
          </a:xfrm>
          <a:prstGeom prst="roundRect">
            <a:avLst>
              <a:gd name="adj" fmla="val 14281"/>
            </a:avLst>
          </a:prstGeom>
          <a:solidFill>
            <a:srgbClr val="E8EBE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1840" y="1801642"/>
            <a:ext cx="6052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28482" y="2215957"/>
            <a:ext cx="5718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rounds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1521653" y="1643085"/>
            <a:ext cx="885871" cy="500085"/>
          </a:xfrm>
          <a:prstGeom prst="roundRect">
            <a:avLst>
              <a:gd name="adj" fmla="val 14281"/>
            </a:avLst>
          </a:prstGeom>
          <a:solidFill>
            <a:srgbClr val="DEE2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629095" y="1795973"/>
            <a:ext cx="67080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1642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rounds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450318" y="1643085"/>
            <a:ext cx="671535" cy="500085"/>
          </a:xfrm>
          <a:prstGeom prst="roundRect">
            <a:avLst>
              <a:gd name="adj" fmla="val 14281"/>
            </a:avLst>
          </a:prstGeom>
          <a:solidFill>
            <a:srgbClr val="D7E4D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92070" y="1801642"/>
            <a:ext cx="7879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464399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rounds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164647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3178729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3500232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521982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4536064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4857567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879318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5893308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6214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236653" y="1643085"/>
            <a:ext cx="957285" cy="500085"/>
          </a:xfrm>
          <a:prstGeom prst="roundRect">
            <a:avLst>
              <a:gd name="adj" fmla="val 14281"/>
            </a:avLst>
          </a:prstGeom>
          <a:solidFill>
            <a:srgbClr val="D7D5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7157283" y="1795973"/>
            <a:ext cx="111602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7320229" y="2215957"/>
            <a:ext cx="789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2×15 rounds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4001323" y="1174455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2842870" y="1360170"/>
            <a:ext cx="467276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2: harsh → lenient → harsh (counterbalanced between subjects)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28665" y="2786085"/>
            <a:ext cx="7286671" cy="100017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1143000" y="2943271"/>
            <a:ext cx="6958035" cy="47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④–⑥ Main-task stages 1–3 (50 rounds each): each stage has only one world; switches occur only between stages and are not announced; the two orders are counterbalanced between subjects.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4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addresses: "deficit vs. mismatch" (whether performance crosses over between worlds) and "lag" (how fast subjects catch up after a switch, and whether entering and leaving the harsh world is asymmetric).</a:t>
            </a:r>
            <a:endParaRPr lang="en-US" sz="12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734034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Structure of the Whole Session (≈ 226 rounds)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50153" y="1643085"/>
            <a:ext cx="528615" cy="500085"/>
          </a:xfrm>
          <a:prstGeom prst="roundRect">
            <a:avLst>
              <a:gd name="adj" fmla="val 14281"/>
            </a:avLst>
          </a:prstGeom>
          <a:solidFill>
            <a:srgbClr val="E8EBE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1840" y="1801642"/>
            <a:ext cx="6052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28482" y="2215957"/>
            <a:ext cx="5718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rounds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1521653" y="1643085"/>
            <a:ext cx="885871" cy="500085"/>
          </a:xfrm>
          <a:prstGeom prst="roundRect">
            <a:avLst>
              <a:gd name="adj" fmla="val 14281"/>
            </a:avLst>
          </a:prstGeom>
          <a:solidFill>
            <a:srgbClr val="DEE2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629095" y="1795973"/>
            <a:ext cx="67080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1642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rounds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450318" y="1643085"/>
            <a:ext cx="671535" cy="500085"/>
          </a:xfrm>
          <a:prstGeom prst="roundRect">
            <a:avLst>
              <a:gd name="adj" fmla="val 14281"/>
            </a:avLst>
          </a:prstGeom>
          <a:solidFill>
            <a:srgbClr val="D7E4D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92070" y="1801642"/>
            <a:ext cx="7879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464399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rounds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164647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3178729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3500232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521982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4536064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4857567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879318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5893308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6214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236653" y="1643085"/>
            <a:ext cx="957285" cy="500085"/>
          </a:xfrm>
          <a:prstGeom prst="roundRect">
            <a:avLst>
              <a:gd name="adj" fmla="val 14281"/>
            </a:avLst>
          </a:prstGeom>
          <a:solidFill>
            <a:srgbClr val="D7D5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7157283" y="1795973"/>
            <a:ext cx="111602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7320229" y="2215957"/>
            <a:ext cx="789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2×15 rounds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4001323" y="1174455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2842870" y="1360170"/>
            <a:ext cx="467276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2: harsh → lenient → harsh (counterbalanced between subjects)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3229021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500415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3771900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043385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314871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586265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857750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129235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400721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672115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943600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215085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486571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757965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7029450" y="2443185"/>
            <a:ext cx="100035" cy="142921"/>
          </a:xfrm>
          <a:prstGeom prst="diamond">
            <a:avLst/>
          </a:prstGeom>
          <a:solidFill>
            <a:srgbClr val="FFD65C"/>
          </a:solidFill>
          <a:ln w="6350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928665" y="2786085"/>
            <a:ext cx="7286671" cy="100017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1143000" y="2943271"/>
            <a:ext cx="6958035" cy="47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Interspersed: world-belief probe (once every 10 rounds during the main-task stages, 15 times in total): "If you answered wrong now, how likely is it that you would lose 30 points?"</a:t>
            </a:r>
            <a:endParaRPr lang="en-US" sz="1240" dirty="0"/>
          </a:p>
        </p:txBody>
      </p:sp>
      <p:sp>
        <p:nvSpPr>
          <p:cNvPr id="45" name="Shape 43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addresses: directly measures "world beliefs," validating the prior and learning process inferred by the model.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7340346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Structure of the Whole Session (≈ 226 rounds)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50153" y="1643085"/>
            <a:ext cx="528615" cy="500085"/>
          </a:xfrm>
          <a:prstGeom prst="roundRect">
            <a:avLst>
              <a:gd name="adj" fmla="val 14281"/>
            </a:avLst>
          </a:prstGeom>
          <a:solidFill>
            <a:srgbClr val="E8EBE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1840" y="1801642"/>
            <a:ext cx="6052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28482" y="2215957"/>
            <a:ext cx="5718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rounds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1521653" y="1643085"/>
            <a:ext cx="885871" cy="500085"/>
          </a:xfrm>
          <a:prstGeom prst="roundRect">
            <a:avLst>
              <a:gd name="adj" fmla="val 14281"/>
            </a:avLst>
          </a:prstGeom>
          <a:solidFill>
            <a:srgbClr val="DEE2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629095" y="1795973"/>
            <a:ext cx="67080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1642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rounds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450318" y="1643085"/>
            <a:ext cx="671535" cy="500085"/>
          </a:xfrm>
          <a:prstGeom prst="roundRect">
            <a:avLst>
              <a:gd name="adj" fmla="val 14281"/>
            </a:avLst>
          </a:prstGeom>
          <a:solidFill>
            <a:srgbClr val="D7E4D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92070" y="1801642"/>
            <a:ext cx="7879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464399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rounds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164647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C1DFD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3178729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3500232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521982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ECC7C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4536064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4857567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879318" y="1643085"/>
            <a:ext cx="1314450" cy="500085"/>
          </a:xfrm>
          <a:prstGeom prst="roundRect">
            <a:avLst>
              <a:gd name="adj" fmla="val 14281"/>
            </a:avLst>
          </a:prstGeom>
          <a:solidFill>
            <a:srgbClr val="C1DFD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5893308" y="1795973"/>
            <a:ext cx="128637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6214811" y="2215957"/>
            <a:ext cx="643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236653" y="1643085"/>
            <a:ext cx="957285" cy="500085"/>
          </a:xfrm>
          <a:prstGeom prst="roundRect">
            <a:avLst>
              <a:gd name="adj" fmla="val 14281"/>
            </a:avLst>
          </a:prstGeom>
          <a:solidFill>
            <a:srgbClr val="786EB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7157283" y="1795973"/>
            <a:ext cx="111602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7320229" y="2215957"/>
            <a:ext cx="789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2×15 rounds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4001323" y="1174455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2842870" y="1360170"/>
            <a:ext cx="467276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2: harsh → lenient → harsh (counterbalanced between subjects)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28665" y="2786085"/>
            <a:ext cx="7286671" cy="100017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1143000" y="2943271"/>
            <a:ext cx="6958035" cy="47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Informed block (2 × 15 rounds): before each set of 15 rounds, subjects are explicitly told which world they are in; the order of the two rules is counterbalanced between subjects.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addresses: "beliefs vs. preferences" — deviation that disappears once subjects are told reflects belief; deviation that remains reflects preference.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BEC4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164397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4421" y="1357335"/>
            <a:ext cx="3786165" cy="2821747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1599743" y="1971721"/>
            <a:ext cx="201542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rounds</a:t>
            </a:r>
            <a:endParaRPr lang="en-US" sz="1690" dirty="0"/>
          </a:p>
        </p:txBody>
      </p:sp>
      <p:sp>
        <p:nvSpPr>
          <p:cNvPr id="24" name="Text 22"/>
          <p:cNvSpPr txBox="1"/>
          <p:nvPr/>
        </p:nvSpPr>
        <p:spPr>
          <a:xfrm>
            <a:off x="898947" y="2386035"/>
            <a:ext cx="34170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Unscored; wrong answers are not penalized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27" name="Text 25"/>
          <p:cNvSpPr txBox="1"/>
          <p:nvPr/>
        </p:nvSpPr>
        <p:spPr>
          <a:xfrm>
            <a:off x="5843565" y="1357061"/>
            <a:ext cx="249475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Practice &amp; quiz (actual 6 rounds)</a:t>
            </a:r>
            <a:endParaRPr lang="en-US" sz="960" dirty="0"/>
          </a:p>
        </p:txBody>
      </p:sp>
      <p:sp>
        <p:nvSpPr>
          <p:cNvPr id="28" name="Text 26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29" name="Text 27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30" name="Text 28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 txBox="1"/>
          <p:nvPr/>
        </p:nvSpPr>
        <p:spPr>
          <a:xfrm>
            <a:off x="6218194" y="1995952"/>
            <a:ext cx="32241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960" dirty="0"/>
          </a:p>
        </p:txBody>
      </p:sp>
      <p:sp>
        <p:nvSpPr>
          <p:cNvPr id="33" name="Text 31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34" name="Text 32"/>
          <p:cNvSpPr txBox="1"/>
          <p:nvPr/>
        </p:nvSpPr>
        <p:spPr>
          <a:xfrm>
            <a:off x="5843565" y="2299990"/>
            <a:ext cx="238804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 penalties; world not involved)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36" name="Text 34"/>
          <p:cNvSpPr txBox="1"/>
          <p:nvPr/>
        </p:nvSpPr>
        <p:spPr>
          <a:xfrm>
            <a:off x="5843565" y="2628626"/>
            <a:ext cx="29146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Nothing: excludes subjects who misread the</a:t>
            </a:r>
            <a:endParaRPr lang="en-US" sz="960" dirty="0"/>
          </a:p>
        </p:txBody>
      </p:sp>
      <p:sp>
        <p:nvSpPr>
          <p:cNvPr id="37" name="Text 35"/>
          <p:cNvSpPr txBox="1"/>
          <p:nvPr/>
        </p:nvSpPr>
        <p:spPr>
          <a:xfrm>
            <a:off x="5843565" y="2814340"/>
            <a:ext cx="38724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40" name="Text 38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1" name="Text 39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42" name="Text 40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43" name="Text 41"/>
          <p:cNvSpPr txBox="1"/>
          <p:nvPr/>
        </p:nvSpPr>
        <p:spPr>
          <a:xfrm>
            <a:off x="5843565" y="3514405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Instructions and practice: getting familiar with the task; practice rounds are unscored and wrong answers are not penalized.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BEC4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164397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0082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0" name="Text 28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7" name="Text 35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1" name="Text 39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5" name="Text 43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 flipV="1"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5" name="Text 53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2</a:t>
            </a:r>
            <a:endParaRPr lang="en-US" sz="1010" dirty="0"/>
          </a:p>
        </p:txBody>
      </p:sp>
      <p:sp>
        <p:nvSpPr>
          <p:cNvPr id="56" name="Text 54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−1.6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2571750" y="2338578"/>
            <a:ext cx="1559966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correct</a:t>
            </a:r>
            <a:endParaRPr lang="en-US" sz="1240" dirty="0"/>
          </a:p>
        </p:txBody>
      </p:sp>
      <p:sp>
        <p:nvSpPr>
          <p:cNvPr id="58" name="Text 56"/>
          <p:cNvSpPr txBox="1"/>
          <p:nvPr/>
        </p:nvSpPr>
        <p:spPr>
          <a:xfrm>
            <a:off x="2571750" y="2599182"/>
            <a:ext cx="80878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(unscored)</a:t>
            </a:r>
            <a:endParaRPr lang="en-US" sz="1010" dirty="0"/>
          </a:p>
        </p:txBody>
      </p:sp>
      <p:sp>
        <p:nvSpPr>
          <p:cNvPr id="59" name="Shape 57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1" name="Text 59"/>
          <p:cNvSpPr txBox="1"/>
          <p:nvPr/>
        </p:nvSpPr>
        <p:spPr>
          <a:xfrm>
            <a:off x="5843565" y="1357061"/>
            <a:ext cx="249475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Practice &amp; quiz (actual 6 rounds)</a:t>
            </a:r>
            <a:endParaRPr lang="en-US" sz="960" dirty="0"/>
          </a:p>
        </p:txBody>
      </p:sp>
      <p:sp>
        <p:nvSpPr>
          <p:cNvPr id="62" name="Text 60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3" name="Text 61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64" name="Text 62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6218194" y="1995952"/>
            <a:ext cx="32241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960" dirty="0"/>
          </a:p>
        </p:txBody>
      </p:sp>
      <p:sp>
        <p:nvSpPr>
          <p:cNvPr id="67" name="Text 65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68" name="Text 66"/>
          <p:cNvSpPr txBox="1"/>
          <p:nvPr/>
        </p:nvSpPr>
        <p:spPr>
          <a:xfrm>
            <a:off x="5843565" y="2299990"/>
            <a:ext cx="238804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 penalties; world not involved)</a:t>
            </a:r>
            <a:endParaRPr lang="en-US" sz="960" dirty="0"/>
          </a:p>
        </p:txBody>
      </p:sp>
      <p:sp>
        <p:nvSpPr>
          <p:cNvPr id="69" name="Text 67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0" name="Text 68"/>
          <p:cNvSpPr txBox="1"/>
          <p:nvPr/>
        </p:nvSpPr>
        <p:spPr>
          <a:xfrm>
            <a:off x="5843565" y="2628626"/>
            <a:ext cx="29146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Nothing: excludes subjects who misread the</a:t>
            </a:r>
            <a:endParaRPr lang="en-US" sz="960" dirty="0"/>
          </a:p>
        </p:txBody>
      </p:sp>
      <p:sp>
        <p:nvSpPr>
          <p:cNvPr id="71" name="Text 69"/>
          <p:cNvSpPr txBox="1"/>
          <p:nvPr/>
        </p:nvSpPr>
        <p:spPr>
          <a:xfrm>
            <a:off x="5843565" y="2814340"/>
            <a:ext cx="38724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960" dirty="0"/>
          </a:p>
        </p:txBody>
      </p:sp>
      <p:sp>
        <p:nvSpPr>
          <p:cNvPr id="72" name="Shape 70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4" name="Text 72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75" name="Text 73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76" name="Text 74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77" name="Text 75"/>
          <p:cNvSpPr txBox="1"/>
          <p:nvPr/>
        </p:nvSpPr>
        <p:spPr>
          <a:xfrm>
            <a:off x="5843565" y="3514405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78" name="Shape 76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Practice round: wait for evidence and submit just like the real task, but unscored.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BEC4C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164397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4421" y="1357335"/>
            <a:ext cx="3786165" cy="2821747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928665" y="1552743"/>
            <a:ext cx="316227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Comprehension quiz (4 questions)</a:t>
            </a:r>
            <a:endParaRPr lang="en-US" sz="1240" dirty="0"/>
          </a:p>
        </p:txBody>
      </p:sp>
      <p:sp>
        <p:nvSpPr>
          <p:cNvPr id="24" name="Text 22"/>
          <p:cNvSpPr txBox="1"/>
          <p:nvPr/>
        </p:nvSpPr>
        <p:spPr>
          <a:xfrm>
            <a:off x="928665" y="1913382"/>
            <a:ext cx="379320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What happens each time you wait one more step?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928665" y="2250247"/>
            <a:ext cx="3357585" cy="285750"/>
          </a:xfrm>
          <a:prstGeom prst="roundRect">
            <a:avLst>
              <a:gd name="adj" fmla="val 20000"/>
            </a:avLst>
          </a:prstGeom>
          <a:solidFill>
            <a:srgbClr val="E2F5E9"/>
          </a:solidFill>
          <a:ln w="10716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1071585" y="2290298"/>
            <a:ext cx="155539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You lose 0.8 points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928665" y="2636032"/>
            <a:ext cx="3357585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1071585" y="2676083"/>
            <a:ext cx="156408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You gain 0.8 points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928665" y="3021818"/>
            <a:ext cx="3357585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1071585" y="3061777"/>
            <a:ext cx="143515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Nothing happens</a:t>
            </a:r>
            <a:endParaRPr lang="en-US" sz="1010" dirty="0"/>
          </a:p>
        </p:txBody>
      </p:sp>
      <p:sp>
        <p:nvSpPr>
          <p:cNvPr id="31" name="Text 29"/>
          <p:cNvSpPr txBox="1"/>
          <p:nvPr/>
        </p:nvSpPr>
        <p:spPr>
          <a:xfrm>
            <a:off x="928665" y="3485053"/>
            <a:ext cx="79241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34" name="Text 32"/>
          <p:cNvSpPr txBox="1"/>
          <p:nvPr/>
        </p:nvSpPr>
        <p:spPr>
          <a:xfrm>
            <a:off x="5843565" y="1357061"/>
            <a:ext cx="249475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Practice &amp; quiz (actual 6 rounds)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36" name="Text 34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37" name="Text 35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 txBox="1"/>
          <p:nvPr/>
        </p:nvSpPr>
        <p:spPr>
          <a:xfrm>
            <a:off x="6218194" y="1995952"/>
            <a:ext cx="32241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960" dirty="0"/>
          </a:p>
        </p:txBody>
      </p:sp>
      <p:sp>
        <p:nvSpPr>
          <p:cNvPr id="40" name="Text 38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41" name="Text 39"/>
          <p:cNvSpPr txBox="1"/>
          <p:nvPr/>
        </p:nvSpPr>
        <p:spPr>
          <a:xfrm>
            <a:off x="5843565" y="2299990"/>
            <a:ext cx="238804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 penalties; world not involved)</a:t>
            </a:r>
            <a:endParaRPr lang="en-US" sz="960" dirty="0"/>
          </a:p>
        </p:txBody>
      </p:sp>
      <p:sp>
        <p:nvSpPr>
          <p:cNvPr id="42" name="Text 40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43" name="Text 41"/>
          <p:cNvSpPr txBox="1"/>
          <p:nvPr/>
        </p:nvSpPr>
        <p:spPr>
          <a:xfrm>
            <a:off x="5843565" y="2628626"/>
            <a:ext cx="29146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Nothing: excludes subjects who misread the</a:t>
            </a:r>
            <a:endParaRPr lang="en-US" sz="960" dirty="0"/>
          </a:p>
        </p:txBody>
      </p:sp>
      <p:sp>
        <p:nvSpPr>
          <p:cNvPr id="44" name="Text 42"/>
          <p:cNvSpPr txBox="1"/>
          <p:nvPr/>
        </p:nvSpPr>
        <p:spPr>
          <a:xfrm>
            <a:off x="5843565" y="2814340"/>
            <a:ext cx="38724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47" name="Text 45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8" name="Text 46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49" name="Text 47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50" name="Text 48"/>
          <p:cNvSpPr txBox="1"/>
          <p:nvPr/>
        </p:nvSpPr>
        <p:spPr>
          <a:xfrm>
            <a:off x="5843565" y="3514405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Comprehension quiz (4 questions): after a wrong answer the instructions are reviewed; subjects who still misunderstand are excluded.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96A0B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914571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4421" y="1357335"/>
            <a:ext cx="3786165" cy="2821747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1571214" y="1971721"/>
            <a:ext cx="20724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rounds</a:t>
            </a:r>
            <a:endParaRPr lang="en-US" sz="1690" dirty="0"/>
          </a:p>
        </p:txBody>
      </p:sp>
      <p:sp>
        <p:nvSpPr>
          <p:cNvPr id="24" name="Text 22"/>
          <p:cNvSpPr txBox="1"/>
          <p:nvPr/>
        </p:nvSpPr>
        <p:spPr>
          <a:xfrm>
            <a:off x="789584" y="2386035"/>
            <a:ext cx="36357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presents the signals; just choose a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1289670" y="2628900"/>
            <a:ext cx="26356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and report your confidence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28" name="Text 26"/>
          <p:cNvSpPr txBox="1"/>
          <p:nvPr/>
        </p:nvSpPr>
        <p:spPr>
          <a:xfrm>
            <a:off x="5843565" y="1357061"/>
            <a:ext cx="213046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Baseline (actual 30 rounds)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31" name="Text 29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6218194" y="1995952"/>
            <a:ext cx="32241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960" dirty="0"/>
          </a:p>
        </p:txBody>
      </p:sp>
      <p:sp>
        <p:nvSpPr>
          <p:cNvPr id="34" name="Text 32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35" name="Text 33"/>
          <p:cNvSpPr txBox="1"/>
          <p:nvPr/>
        </p:nvSpPr>
        <p:spPr>
          <a:xfrm>
            <a:off x="5843565" y="2299990"/>
            <a:ext cx="238804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 penalties; world not involved)</a:t>
            </a:r>
            <a:endParaRPr lang="en-US" sz="960" dirty="0"/>
          </a:p>
        </p:txBody>
      </p:sp>
      <p:sp>
        <p:nvSpPr>
          <p:cNvPr id="36" name="Text 34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5843565" y="2628626"/>
            <a:ext cx="312276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Computation: whether evidence weighting is off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40" name="Text 38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1" name="Text 39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42" name="Text 40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43" name="Text 41"/>
          <p:cNvSpPr txBox="1"/>
          <p:nvPr/>
        </p:nvSpPr>
        <p:spPr>
          <a:xfrm>
            <a:off x="5843565" y="3514405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Baseline: the system decides how many signals appear; subjects cannot decide when to stop.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96A0B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914571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29" name="Text 27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6" name="Text 34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17966" y="2616007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 flipV="1">
            <a:off x="943021" y="2589581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3" name="Text 41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1721632" y="1843065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765981" y="1887413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 flipV="1">
            <a:off x="1765981" y="1887413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50" name="Text 48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5" name="Text 53"/>
          <p:cNvSpPr txBox="1"/>
          <p:nvPr/>
        </p:nvSpPr>
        <p:spPr>
          <a:xfrm>
            <a:off x="2571750" y="1699961"/>
            <a:ext cx="2031522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shows 3 signals</a:t>
            </a:r>
            <a:endParaRPr lang="en-US" sz="960" dirty="0"/>
          </a:p>
        </p:txBody>
      </p:sp>
      <p:sp>
        <p:nvSpPr>
          <p:cNvPr id="56" name="Text 54"/>
          <p:cNvSpPr txBox="1"/>
          <p:nvPr/>
        </p:nvSpPr>
        <p:spPr>
          <a:xfrm>
            <a:off x="2571750" y="1984797"/>
            <a:ext cx="158392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choice: Region A</a:t>
            </a:r>
            <a:endParaRPr lang="en-US" sz="1010" dirty="0"/>
          </a:p>
        </p:txBody>
      </p:sp>
      <p:sp>
        <p:nvSpPr>
          <p:cNvPr id="57" name="Text 55"/>
          <p:cNvSpPr txBox="1"/>
          <p:nvPr/>
        </p:nvSpPr>
        <p:spPr>
          <a:xfrm>
            <a:off x="2571750" y="2270547"/>
            <a:ext cx="16922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confident are you?</a:t>
            </a:r>
            <a:endParaRPr lang="en-US" sz="1010" dirty="0"/>
          </a:p>
        </p:txBody>
      </p:sp>
      <p:sp>
        <p:nvSpPr>
          <p:cNvPr id="58" name="Shape 56"/>
          <p:cNvSpPr/>
          <p:nvPr/>
        </p:nvSpPr>
        <p:spPr>
          <a:xfrm>
            <a:off x="2643165" y="2714671"/>
            <a:ext cx="1714500" cy="91"/>
          </a:xfrm>
          <a:prstGeom prst="line">
            <a:avLst/>
          </a:prstGeom>
          <a:noFill/>
          <a:ln w="42863">
            <a:solidFill>
              <a:srgbClr val="BEC4C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2643165" y="2714671"/>
            <a:ext cx="857250" cy="91"/>
          </a:xfrm>
          <a:prstGeom prst="line">
            <a:avLst/>
          </a:prstGeom>
          <a:noFill/>
          <a:ln w="42863">
            <a:solidFill>
              <a:srgbClr val="2F62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3421868" y="2636032"/>
            <a:ext cx="157185" cy="157185"/>
          </a:xfrm>
          <a:prstGeom prst="ellipse">
            <a:avLst/>
          </a:prstGeom>
          <a:solidFill>
            <a:srgbClr val="FFFFFF"/>
          </a:solidFill>
          <a:ln w="21431">
            <a:solidFill>
              <a:srgbClr val="2F62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 txBox="1"/>
          <p:nvPr/>
        </p:nvSpPr>
        <p:spPr>
          <a:xfrm>
            <a:off x="2643165" y="2831257"/>
            <a:ext cx="31162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790" dirty="0"/>
          </a:p>
        </p:txBody>
      </p:sp>
      <p:sp>
        <p:nvSpPr>
          <p:cNvPr id="62" name="Text 60"/>
          <p:cNvSpPr txBox="1"/>
          <p:nvPr/>
        </p:nvSpPr>
        <p:spPr>
          <a:xfrm>
            <a:off x="3979286" y="2831257"/>
            <a:ext cx="37847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7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90" dirty="0"/>
          </a:p>
        </p:txBody>
      </p:sp>
      <p:sp>
        <p:nvSpPr>
          <p:cNvPr id="63" name="Text 61"/>
          <p:cNvSpPr txBox="1"/>
          <p:nvPr/>
        </p:nvSpPr>
        <p:spPr>
          <a:xfrm>
            <a:off x="3318906" y="2363175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960" dirty="0"/>
          </a:p>
        </p:txBody>
      </p:sp>
      <p:sp>
        <p:nvSpPr>
          <p:cNvPr id="64" name="Text 62"/>
          <p:cNvSpPr txBox="1"/>
          <p:nvPr/>
        </p:nvSpPr>
        <p:spPr>
          <a:xfrm>
            <a:off x="2571750" y="3058119"/>
            <a:ext cx="2129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(no accuracy feedback)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7" name="Text 65"/>
          <p:cNvSpPr txBox="1"/>
          <p:nvPr/>
        </p:nvSpPr>
        <p:spPr>
          <a:xfrm>
            <a:off x="5843565" y="1357061"/>
            <a:ext cx="213046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Baseline (actual 30 rounds)</a:t>
            </a:r>
            <a:endParaRPr lang="en-US" sz="960" dirty="0"/>
          </a:p>
        </p:txBody>
      </p:sp>
      <p:sp>
        <p:nvSpPr>
          <p:cNvPr id="68" name="Text 66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9" name="Text 67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70" name="Text 68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71" name="Shape 69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 txBox="1"/>
          <p:nvPr/>
        </p:nvSpPr>
        <p:spPr>
          <a:xfrm>
            <a:off x="6218194" y="1995952"/>
            <a:ext cx="32241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4" name="Text 72"/>
          <p:cNvSpPr txBox="1"/>
          <p:nvPr/>
        </p:nvSpPr>
        <p:spPr>
          <a:xfrm>
            <a:off x="5843565" y="2299990"/>
            <a:ext cx="238804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 penalties; world not involved)</a:t>
            </a:r>
            <a:endParaRPr lang="en-US" sz="960" dirty="0"/>
          </a:p>
        </p:txBody>
      </p:sp>
      <p:sp>
        <p:nvSpPr>
          <p:cNvPr id="75" name="Text 73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6" name="Text 74"/>
          <p:cNvSpPr txBox="1"/>
          <p:nvPr/>
        </p:nvSpPr>
        <p:spPr>
          <a:xfrm>
            <a:off x="5843565" y="2628626"/>
            <a:ext cx="312276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Computation: whether evidence weighting is off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9" name="Text 77"/>
          <p:cNvSpPr txBox="1"/>
          <p:nvPr/>
        </p:nvSpPr>
        <p:spPr>
          <a:xfrm>
            <a:off x="5843565" y="3214390"/>
            <a:ext cx="269601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by the system; waiting not measured</a:t>
            </a:r>
            <a:endParaRPr lang="en-US" sz="960" dirty="0"/>
          </a:p>
        </p:txBody>
      </p:sp>
      <p:sp>
        <p:nvSpPr>
          <p:cNvPr id="80" name="Text 78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81" name="Text 79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82" name="Text 80"/>
          <p:cNvSpPr txBox="1"/>
          <p:nvPr/>
        </p:nvSpPr>
        <p:spPr>
          <a:xfrm>
            <a:off x="5843565" y="3514405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Baseline: 3 signals → choose a region and report confidence; +1 if correct, but no accuracy feedback.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96A0B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914571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29" name="Text 27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6" name="Text 34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22995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 flipV="1">
            <a:off x="922995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064453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108710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 flipV="1">
            <a:off x="1108710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6" name="Text 44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721632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760952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 flipV="1">
            <a:off x="1785915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9073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9466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 flipV="1">
            <a:off x="19717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56" name="Text 54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760952" y="2616007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 flipV="1">
            <a:off x="1785915" y="2589581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64" name="Text 62"/>
          <p:cNvSpPr txBox="1"/>
          <p:nvPr/>
        </p:nvSpPr>
        <p:spPr>
          <a:xfrm>
            <a:off x="2571750" y="1699961"/>
            <a:ext cx="2031522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shows 6 signals</a:t>
            </a:r>
            <a:endParaRPr lang="en-US" sz="960" dirty="0"/>
          </a:p>
        </p:txBody>
      </p:sp>
      <p:sp>
        <p:nvSpPr>
          <p:cNvPr id="65" name="Text 63"/>
          <p:cNvSpPr txBox="1"/>
          <p:nvPr/>
        </p:nvSpPr>
        <p:spPr>
          <a:xfrm>
            <a:off x="2571750" y="1984797"/>
            <a:ext cx="159242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choice: Region B</a:t>
            </a:r>
            <a:endParaRPr lang="en-US" sz="1010" dirty="0"/>
          </a:p>
        </p:txBody>
      </p:sp>
      <p:sp>
        <p:nvSpPr>
          <p:cNvPr id="66" name="Text 64"/>
          <p:cNvSpPr txBox="1"/>
          <p:nvPr/>
        </p:nvSpPr>
        <p:spPr>
          <a:xfrm>
            <a:off x="2571750" y="2270547"/>
            <a:ext cx="16922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confident are you?</a:t>
            </a:r>
            <a:endParaRPr lang="en-US" sz="1010" dirty="0"/>
          </a:p>
        </p:txBody>
      </p:sp>
      <p:sp>
        <p:nvSpPr>
          <p:cNvPr id="67" name="Shape 65"/>
          <p:cNvSpPr/>
          <p:nvPr/>
        </p:nvSpPr>
        <p:spPr>
          <a:xfrm>
            <a:off x="2643165" y="2714671"/>
            <a:ext cx="1714500" cy="91"/>
          </a:xfrm>
          <a:prstGeom prst="line">
            <a:avLst/>
          </a:prstGeom>
          <a:noFill/>
          <a:ln w="42863">
            <a:solidFill>
              <a:srgbClr val="BEC4C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2643165" y="2714671"/>
            <a:ext cx="1371600" cy="91"/>
          </a:xfrm>
          <a:prstGeom prst="line">
            <a:avLst/>
          </a:prstGeom>
          <a:noFill/>
          <a:ln w="42863">
            <a:solidFill>
              <a:srgbClr val="2F62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3936218" y="2636032"/>
            <a:ext cx="157185" cy="157185"/>
          </a:xfrm>
          <a:prstGeom prst="ellipse">
            <a:avLst/>
          </a:prstGeom>
          <a:solidFill>
            <a:srgbClr val="FFFFFF"/>
          </a:solidFill>
          <a:ln w="21431">
            <a:solidFill>
              <a:srgbClr val="2F62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 txBox="1"/>
          <p:nvPr/>
        </p:nvSpPr>
        <p:spPr>
          <a:xfrm>
            <a:off x="2643165" y="2831257"/>
            <a:ext cx="31162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790" dirty="0"/>
          </a:p>
        </p:txBody>
      </p:sp>
      <p:sp>
        <p:nvSpPr>
          <p:cNvPr id="71" name="Text 69"/>
          <p:cNvSpPr txBox="1"/>
          <p:nvPr/>
        </p:nvSpPr>
        <p:spPr>
          <a:xfrm>
            <a:off x="3979286" y="2831257"/>
            <a:ext cx="37847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7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90" dirty="0"/>
          </a:p>
        </p:txBody>
      </p:sp>
      <p:sp>
        <p:nvSpPr>
          <p:cNvPr id="72" name="Text 70"/>
          <p:cNvSpPr txBox="1"/>
          <p:nvPr/>
        </p:nvSpPr>
        <p:spPr>
          <a:xfrm>
            <a:off x="3833256" y="2363175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2571750" y="3058119"/>
            <a:ext cx="2129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(no accuracy feedback)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76" name="Text 74"/>
          <p:cNvSpPr txBox="1"/>
          <p:nvPr/>
        </p:nvSpPr>
        <p:spPr>
          <a:xfrm>
            <a:off x="5843565" y="1357061"/>
            <a:ext cx="213046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Baseline (actual 30 rounds)</a:t>
            </a:r>
            <a:endParaRPr lang="en-US" sz="960" dirty="0"/>
          </a:p>
        </p:txBody>
      </p:sp>
      <p:sp>
        <p:nvSpPr>
          <p:cNvPr id="77" name="Text 75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78" name="Text 76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79" name="Text 77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80" name="Shape 78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BEE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 txBox="1"/>
          <p:nvPr/>
        </p:nvSpPr>
        <p:spPr>
          <a:xfrm>
            <a:off x="6218194" y="1995952"/>
            <a:ext cx="32241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960" dirty="0"/>
          </a:p>
        </p:txBody>
      </p:sp>
      <p:sp>
        <p:nvSpPr>
          <p:cNvPr id="82" name="Text 80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83" name="Text 81"/>
          <p:cNvSpPr txBox="1"/>
          <p:nvPr/>
        </p:nvSpPr>
        <p:spPr>
          <a:xfrm>
            <a:off x="5843565" y="2299990"/>
            <a:ext cx="238804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(no penalties; world not involved)</a:t>
            </a:r>
            <a:endParaRPr lang="en-US" sz="960" dirty="0"/>
          </a:p>
        </p:txBody>
      </p:sp>
      <p:sp>
        <p:nvSpPr>
          <p:cNvPr id="84" name="Text 82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85" name="Text 83"/>
          <p:cNvSpPr txBox="1"/>
          <p:nvPr/>
        </p:nvSpPr>
        <p:spPr>
          <a:xfrm>
            <a:off x="5843565" y="2628626"/>
            <a:ext cx="312276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Computation: whether evidence weighting is off</a:t>
            </a:r>
            <a:endParaRPr lang="en-US" sz="960" dirty="0"/>
          </a:p>
        </p:txBody>
      </p:sp>
      <p:sp>
        <p:nvSpPr>
          <p:cNvPr id="86" name="Shape 84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88" name="Text 86"/>
          <p:cNvSpPr txBox="1"/>
          <p:nvPr/>
        </p:nvSpPr>
        <p:spPr>
          <a:xfrm>
            <a:off x="5843565" y="3214390"/>
            <a:ext cx="269601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by the system; waiting not measured</a:t>
            </a:r>
            <a:endParaRPr lang="en-US" sz="960" dirty="0"/>
          </a:p>
        </p:txBody>
      </p:sp>
      <p:sp>
        <p:nvSpPr>
          <p:cNvPr id="89" name="Text 87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90" name="Text 88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91" name="Text 89"/>
          <p:cNvSpPr txBox="1"/>
          <p:nvPr/>
        </p:nvSpPr>
        <p:spPr>
          <a:xfrm>
            <a:off x="5843565" y="3514405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92" name="Shape 90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 91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Baseline: 6 signals → again only choose and report confidence. This isolates "computation" (evidence weighting).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78AA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736068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4421" y="1357335"/>
            <a:ext cx="3786165" cy="2821747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1535460" y="1971721"/>
            <a:ext cx="21439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task begins</a:t>
            </a:r>
            <a:endParaRPr lang="en-US" sz="1690" dirty="0"/>
          </a:p>
        </p:txBody>
      </p:sp>
      <p:sp>
        <p:nvSpPr>
          <p:cNvPr id="24" name="Text 22"/>
          <p:cNvSpPr txBox="1"/>
          <p:nvPr/>
        </p:nvSpPr>
        <p:spPr>
          <a:xfrm>
            <a:off x="913486" y="2386035"/>
            <a:ext cx="33879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answer may cost a small or a large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879927" y="2628900"/>
            <a:ext cx="34550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penalty; the rules may change without notice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28" name="Text 26"/>
          <p:cNvSpPr txBox="1"/>
          <p:nvPr/>
        </p:nvSpPr>
        <p:spPr>
          <a:xfrm>
            <a:off x="5843565" y="1357061"/>
            <a:ext cx="2292309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Prior block (actual 10 rounds)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31" name="Text 29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34" name="Text 32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35" name="Text 33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36" name="Text 34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5843565" y="2628626"/>
            <a:ext cx="25879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prior: default assumption without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5843565" y="2814340"/>
            <a:ext cx="78428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41" name="Text 39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2" name="Text 40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43" name="Text 41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5843565" y="3486150"/>
            <a:ext cx="1078718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48" name="Text 46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The prior block starts the real task; subjects only know that a wrong answer may cost a small or a large penalty.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78AA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736068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100.0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0" name="Text 28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7" name="Text 35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1" name="Text 39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5" name="Text 43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 flipV="1"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5" name="Text 53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2</a:t>
            </a:r>
            <a:endParaRPr lang="en-US" sz="1010" dirty="0"/>
          </a:p>
        </p:txBody>
      </p:sp>
      <p:sp>
        <p:nvSpPr>
          <p:cNvPr id="56" name="Text 54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−1.6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2571750" y="2338578"/>
            <a:ext cx="99340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240" dirty="0"/>
          </a:p>
        </p:txBody>
      </p:sp>
      <p:sp>
        <p:nvSpPr>
          <p:cNvPr id="58" name="Text 56"/>
          <p:cNvSpPr txBox="1"/>
          <p:nvPr/>
        </p:nvSpPr>
        <p:spPr>
          <a:xfrm>
            <a:off x="2571750" y="2599182"/>
            <a:ext cx="223241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will be revealed at the</a:t>
            </a:r>
            <a:endParaRPr lang="en-US" sz="1010" dirty="0"/>
          </a:p>
        </p:txBody>
      </p:sp>
      <p:sp>
        <p:nvSpPr>
          <p:cNvPr id="59" name="Text 57"/>
          <p:cNvSpPr txBox="1"/>
          <p:nvPr/>
        </p:nvSpPr>
        <p:spPr>
          <a:xfrm>
            <a:off x="2571750" y="2799161"/>
            <a:ext cx="118634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this block</a:t>
            </a:r>
            <a:endParaRPr lang="en-US" sz="1010" dirty="0"/>
          </a:p>
        </p:txBody>
      </p:sp>
      <p:sp>
        <p:nvSpPr>
          <p:cNvPr id="60" name="Shape 58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2" name="Text 60"/>
          <p:cNvSpPr txBox="1"/>
          <p:nvPr/>
        </p:nvSpPr>
        <p:spPr>
          <a:xfrm>
            <a:off x="5843565" y="1357061"/>
            <a:ext cx="2292309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Prior block (actual 10 rounds)</a:t>
            </a:r>
            <a:endParaRPr lang="en-US" sz="960" dirty="0"/>
          </a:p>
        </p:txBody>
      </p:sp>
      <p:sp>
        <p:nvSpPr>
          <p:cNvPr id="63" name="Text 61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4" name="Text 62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65" name="Text 63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68" name="Text 66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69" name="Text 67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70" name="Text 68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1" name="Text 69"/>
          <p:cNvSpPr txBox="1"/>
          <p:nvPr/>
        </p:nvSpPr>
        <p:spPr>
          <a:xfrm>
            <a:off x="5843565" y="2628626"/>
            <a:ext cx="25879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prior: default assumption without</a:t>
            </a:r>
            <a:endParaRPr lang="en-US" sz="96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2814340"/>
            <a:ext cx="78428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5" name="Text 73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2 steps | optimal here ≈ 2.0 steps</a:t>
            </a:r>
            <a:endParaRPr lang="en-US" sz="960" dirty="0"/>
          </a:p>
        </p:txBody>
      </p:sp>
      <p:sp>
        <p:nvSpPr>
          <p:cNvPr id="76" name="Text 74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77" name="Text 75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5843565" y="3486150"/>
            <a:ext cx="1078718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82" name="Text 80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83" name="Shape 81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Prior block: outcomes are withheld round by round, so subjects have no experience of the "world" yet.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78AA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736068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100.0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0" name="Text 28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4" name="Text 32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922995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 flipV="1">
            <a:off x="922995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1" name="Text 39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1721632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760952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 flipV="1">
            <a:off x="1785915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8" name="Text 46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760952" y="2616007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 flipV="1">
            <a:off x="1785915" y="2589581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8" name="Text 56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3</a:t>
            </a:r>
            <a:endParaRPr lang="en-US" sz="1010" dirty="0"/>
          </a:p>
        </p:txBody>
      </p:sp>
      <p:sp>
        <p:nvSpPr>
          <p:cNvPr id="59" name="Text 57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−2.4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2571750" y="2338578"/>
            <a:ext cx="99340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240" dirty="0"/>
          </a:p>
        </p:txBody>
      </p:sp>
      <p:sp>
        <p:nvSpPr>
          <p:cNvPr id="61" name="Text 59"/>
          <p:cNvSpPr txBox="1"/>
          <p:nvPr/>
        </p:nvSpPr>
        <p:spPr>
          <a:xfrm>
            <a:off x="2571750" y="2599182"/>
            <a:ext cx="223241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will be revealed at the</a:t>
            </a:r>
            <a:endParaRPr lang="en-US" sz="1010" dirty="0"/>
          </a:p>
        </p:txBody>
      </p:sp>
      <p:sp>
        <p:nvSpPr>
          <p:cNvPr id="62" name="Text 60"/>
          <p:cNvSpPr txBox="1"/>
          <p:nvPr/>
        </p:nvSpPr>
        <p:spPr>
          <a:xfrm>
            <a:off x="2571750" y="2799161"/>
            <a:ext cx="118634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this block</a:t>
            </a:r>
            <a:endParaRPr lang="en-US" sz="1010" dirty="0"/>
          </a:p>
        </p:txBody>
      </p:sp>
      <p:sp>
        <p:nvSpPr>
          <p:cNvPr id="63" name="Shape 61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5" name="Text 63"/>
          <p:cNvSpPr txBox="1"/>
          <p:nvPr/>
        </p:nvSpPr>
        <p:spPr>
          <a:xfrm>
            <a:off x="5843565" y="1357061"/>
            <a:ext cx="2292309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Prior block (actual 10 rounds)</a:t>
            </a:r>
            <a:endParaRPr lang="en-US" sz="960" dirty="0"/>
          </a:p>
        </p:txBody>
      </p:sp>
      <p:sp>
        <p:nvSpPr>
          <p:cNvPr id="66" name="Text 64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7" name="Text 65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68" name="Text 66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69" name="Shape 67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71" name="Text 69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4" name="Text 72"/>
          <p:cNvSpPr txBox="1"/>
          <p:nvPr/>
        </p:nvSpPr>
        <p:spPr>
          <a:xfrm>
            <a:off x="5843565" y="2628626"/>
            <a:ext cx="25879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prior: default assumption without</a:t>
            </a:r>
            <a:endParaRPr lang="en-US" sz="960" dirty="0"/>
          </a:p>
        </p:txBody>
      </p:sp>
      <p:sp>
        <p:nvSpPr>
          <p:cNvPr id="75" name="Text 73"/>
          <p:cNvSpPr txBox="1"/>
          <p:nvPr/>
        </p:nvSpPr>
        <p:spPr>
          <a:xfrm>
            <a:off x="5843565" y="2814340"/>
            <a:ext cx="78428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960" dirty="0"/>
          </a:p>
        </p:txBody>
      </p:sp>
      <p:sp>
        <p:nvSpPr>
          <p:cNvPr id="76" name="Shape 74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8" name="Text 76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3 steps | optimal here ≈ 2.0 steps</a:t>
            </a:r>
            <a:endParaRPr lang="en-US" sz="960" dirty="0"/>
          </a:p>
        </p:txBody>
      </p:sp>
      <p:sp>
        <p:nvSpPr>
          <p:cNvPr id="79" name="Text 77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80" name="Text 78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5843565" y="3486150"/>
            <a:ext cx="1078718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85" name="Text 83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86" name="Shape 84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Prior block: waiting here reflects the default assumption subjects bring in (the world prior).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78AA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736068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0579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116.0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14421" y="1643085"/>
            <a:ext cx="3786165" cy="2535997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928665" y="1803654"/>
            <a:ext cx="3502975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Prior-block outcomes (revealed at once)</a:t>
            </a:r>
            <a:endParaRPr lang="en-US" sz="1180" dirty="0"/>
          </a:p>
        </p:txBody>
      </p:sp>
      <p:sp>
        <p:nvSpPr>
          <p:cNvPr id="25" name="Text 23"/>
          <p:cNvSpPr txBox="1"/>
          <p:nvPr/>
        </p:nvSpPr>
        <p:spPr>
          <a:xfrm>
            <a:off x="928665" y="2162556"/>
            <a:ext cx="30962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1: correct +10, waited 2 steps −1.6</a:t>
            </a:r>
            <a:endParaRPr lang="en-US" sz="1070" dirty="0"/>
          </a:p>
        </p:txBody>
      </p:sp>
      <p:sp>
        <p:nvSpPr>
          <p:cNvPr id="26" name="Text 24"/>
          <p:cNvSpPr txBox="1"/>
          <p:nvPr/>
        </p:nvSpPr>
        <p:spPr>
          <a:xfrm>
            <a:off x="3893241" y="2162556"/>
            <a:ext cx="393009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7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+8.4</a:t>
            </a:r>
            <a:endParaRPr lang="en-US" sz="1070" dirty="0"/>
          </a:p>
        </p:txBody>
      </p:sp>
      <p:sp>
        <p:nvSpPr>
          <p:cNvPr id="27" name="Text 25"/>
          <p:cNvSpPr txBox="1"/>
          <p:nvPr/>
        </p:nvSpPr>
        <p:spPr>
          <a:xfrm>
            <a:off x="928665" y="2491191"/>
            <a:ext cx="30962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2: correct +10, waited 3 steps −2.4</a:t>
            </a:r>
            <a:endParaRPr lang="en-US" sz="1070" dirty="0"/>
          </a:p>
        </p:txBody>
      </p:sp>
      <p:sp>
        <p:nvSpPr>
          <p:cNvPr id="28" name="Text 26"/>
          <p:cNvSpPr txBox="1"/>
          <p:nvPr/>
        </p:nvSpPr>
        <p:spPr>
          <a:xfrm>
            <a:off x="3893241" y="2491191"/>
            <a:ext cx="393009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07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+7.6</a:t>
            </a:r>
            <a:endParaRPr lang="en-US" sz="1070" dirty="0"/>
          </a:p>
        </p:txBody>
      </p:sp>
      <p:sp>
        <p:nvSpPr>
          <p:cNvPr id="29" name="Text 27"/>
          <p:cNvSpPr txBox="1"/>
          <p:nvPr/>
        </p:nvSpPr>
        <p:spPr>
          <a:xfrm>
            <a:off x="928665" y="3058119"/>
            <a:ext cx="34794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(Only 2 rounds are shown here; the actual block has 10)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32" name="Text 30"/>
          <p:cNvSpPr txBox="1"/>
          <p:nvPr/>
        </p:nvSpPr>
        <p:spPr>
          <a:xfrm>
            <a:off x="5843565" y="1357061"/>
            <a:ext cx="2292309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Prior block (actual 10 rounds)</a:t>
            </a:r>
            <a:endParaRPr lang="en-US" sz="960" dirty="0"/>
          </a:p>
        </p:txBody>
      </p:sp>
      <p:sp>
        <p:nvSpPr>
          <p:cNvPr id="33" name="Text 31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34" name="Text 32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39" name="Text 37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40" name="Text 38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41" name="Text 39"/>
          <p:cNvSpPr txBox="1"/>
          <p:nvPr/>
        </p:nvSpPr>
        <p:spPr>
          <a:xfrm>
            <a:off x="5843565" y="2628626"/>
            <a:ext cx="25879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prior: default assumption without</a:t>
            </a:r>
            <a:endParaRPr lang="en-US" sz="960" dirty="0"/>
          </a:p>
        </p:txBody>
      </p:sp>
      <p:sp>
        <p:nvSpPr>
          <p:cNvPr id="42" name="Text 40"/>
          <p:cNvSpPr txBox="1"/>
          <p:nvPr/>
        </p:nvSpPr>
        <p:spPr>
          <a:xfrm>
            <a:off x="5843565" y="2814340"/>
            <a:ext cx="78428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6" name="Text 44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47" name="Text 45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5843565" y="3486150"/>
            <a:ext cx="1078718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52" name="Text 50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At the end of the prior block, all outcomes are revealed at once.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771900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124.4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0082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917966" y="2616007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 flipV="1">
            <a:off x="943021" y="2589581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5" name="Text 43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9" name="Text 47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6" name="Text 54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2</a:t>
            </a:r>
            <a:endParaRPr lang="en-US" sz="1010" dirty="0"/>
          </a:p>
        </p:txBody>
      </p:sp>
      <p:sp>
        <p:nvSpPr>
          <p:cNvPr id="57" name="Text 55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−1.6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2571750" y="2268901"/>
            <a:ext cx="14750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A</a:t>
            </a:r>
            <a:endParaRPr lang="en-US" sz="1130" dirty="0"/>
          </a:p>
        </p:txBody>
      </p:sp>
      <p:sp>
        <p:nvSpPr>
          <p:cNvPr id="59" name="Text 57"/>
          <p:cNvSpPr txBox="1"/>
          <p:nvPr/>
        </p:nvSpPr>
        <p:spPr>
          <a:xfrm>
            <a:off x="2571750" y="2526030"/>
            <a:ext cx="10197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+10</a:t>
            </a:r>
            <a:endParaRPr lang="en-US" sz="1130" dirty="0"/>
          </a:p>
        </p:txBody>
      </p:sp>
      <p:sp>
        <p:nvSpPr>
          <p:cNvPr id="60" name="Text 58"/>
          <p:cNvSpPr txBox="1"/>
          <p:nvPr/>
        </p:nvSpPr>
        <p:spPr>
          <a:xfrm>
            <a:off x="2571750" y="2811780"/>
            <a:ext cx="1505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+8.4</a:t>
            </a:r>
            <a:endParaRPr lang="en-US" sz="1130" dirty="0"/>
          </a:p>
        </p:txBody>
      </p:sp>
      <p:sp>
        <p:nvSpPr>
          <p:cNvPr id="61" name="Shape 59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3" name="Text 61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Main-task stage 1 (actual 50 rounds)</a:t>
            </a:r>
            <a:endParaRPr lang="en-US" sz="960" dirty="0"/>
          </a:p>
        </p:txBody>
      </p:sp>
      <p:sp>
        <p:nvSpPr>
          <p:cNvPr id="64" name="Text 62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5" name="Text 63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66" name="Text 64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69" name="Text 67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0" name="Text 68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71" name="Text 69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2628626"/>
            <a:ext cx="293056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Deficit vs. mismatch: compare with the other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843565" y="2814340"/>
            <a:ext cx="41961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6" name="Text 74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2 steps | optimal here ≈ 2.0 steps</a:t>
            </a:r>
            <a:endParaRPr lang="en-US" sz="960" dirty="0"/>
          </a:p>
        </p:txBody>
      </p:sp>
      <p:sp>
        <p:nvSpPr>
          <p:cNvPr id="77" name="Text 75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78" name="Text 76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5843565" y="3486150"/>
            <a:ext cx="1078718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83" name="Text 81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84" name="Shape 82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Main-task stage 1: same world as the prior block (lenient), no switch; round-by-round feedback starts here.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771900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121.6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93068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50082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2" name="Text 30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9" name="Text 37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3" name="Text 41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7" name="Text 45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4" name="Text 52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1</a:t>
            </a:r>
            <a:endParaRPr lang="en-US" sz="1010" dirty="0"/>
          </a:p>
        </p:txBody>
      </p:sp>
      <p:sp>
        <p:nvSpPr>
          <p:cNvPr id="55" name="Text 53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−0.8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2571750" y="2268901"/>
            <a:ext cx="14814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B</a:t>
            </a:r>
            <a:endParaRPr lang="en-US" sz="1130" dirty="0"/>
          </a:p>
        </p:txBody>
      </p:sp>
      <p:sp>
        <p:nvSpPr>
          <p:cNvPr id="57" name="Text 55"/>
          <p:cNvSpPr txBox="1"/>
          <p:nvPr/>
        </p:nvSpPr>
        <p:spPr>
          <a:xfrm>
            <a:off x="2571750" y="2526030"/>
            <a:ext cx="8542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−2</a:t>
            </a:r>
            <a:endParaRPr lang="en-US" sz="1130" dirty="0"/>
          </a:p>
        </p:txBody>
      </p:sp>
      <p:sp>
        <p:nvSpPr>
          <p:cNvPr id="58" name="Text 56"/>
          <p:cNvSpPr txBox="1"/>
          <p:nvPr/>
        </p:nvSpPr>
        <p:spPr>
          <a:xfrm>
            <a:off x="2571750" y="2811780"/>
            <a:ext cx="1505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−2.8</a:t>
            </a:r>
            <a:endParaRPr lang="en-US" sz="1130" dirty="0"/>
          </a:p>
        </p:txBody>
      </p:sp>
      <p:sp>
        <p:nvSpPr>
          <p:cNvPr id="59" name="Shape 57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1" name="Text 59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Main-task stage 1 (actual 50 rounds)</a:t>
            </a:r>
            <a:endParaRPr lang="en-US" sz="960" dirty="0"/>
          </a:p>
        </p:txBody>
      </p:sp>
      <p:sp>
        <p:nvSpPr>
          <p:cNvPr id="62" name="Text 60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3" name="Text 61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64" name="Text 62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67" name="Text 65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68" name="Text 66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69" name="Text 67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0" name="Text 68"/>
          <p:cNvSpPr txBox="1"/>
          <p:nvPr/>
        </p:nvSpPr>
        <p:spPr>
          <a:xfrm>
            <a:off x="5843565" y="2628626"/>
            <a:ext cx="293056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Deficit vs. mismatch: compare with the other</a:t>
            </a:r>
            <a:endParaRPr lang="en-US" sz="960" dirty="0"/>
          </a:p>
        </p:txBody>
      </p:sp>
      <p:sp>
        <p:nvSpPr>
          <p:cNvPr id="71" name="Text 69"/>
          <p:cNvSpPr txBox="1"/>
          <p:nvPr/>
        </p:nvSpPr>
        <p:spPr>
          <a:xfrm>
            <a:off x="5843565" y="2814340"/>
            <a:ext cx="41961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</a:t>
            </a:r>
            <a:endParaRPr lang="en-US" sz="960" dirty="0"/>
          </a:p>
        </p:txBody>
      </p:sp>
      <p:sp>
        <p:nvSpPr>
          <p:cNvPr id="72" name="Shape 70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4" name="Text 72"/>
          <p:cNvSpPr txBox="1"/>
          <p:nvPr/>
        </p:nvSpPr>
        <p:spPr>
          <a:xfrm>
            <a:off x="5843565" y="3214390"/>
            <a:ext cx="270872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1 step | optimal here ≈ 2.0 steps</a:t>
            </a:r>
            <a:endParaRPr lang="en-US" sz="960" dirty="0"/>
          </a:p>
        </p:txBody>
      </p:sp>
      <p:sp>
        <p:nvSpPr>
          <p:cNvPr id="75" name="Text 73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76" name="Text 74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5843565" y="3486150"/>
            <a:ext cx="719176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81" name="Text 79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82" name="Shape 80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A wrong answer costing only 2 points is evidence favoring the "lenient world."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771900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130.0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93068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5" name="Text 33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922995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 flipV="1">
            <a:off x="922995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2" name="Text 40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1721632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760952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 flipV="1">
            <a:off x="1785915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9" name="Text 47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6" name="Text 54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2</a:t>
            </a:r>
            <a:endParaRPr lang="en-US" sz="1010" dirty="0"/>
          </a:p>
        </p:txBody>
      </p:sp>
      <p:sp>
        <p:nvSpPr>
          <p:cNvPr id="57" name="Text 55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−1.6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2571750" y="2268901"/>
            <a:ext cx="14814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B</a:t>
            </a:r>
            <a:endParaRPr lang="en-US" sz="1130" dirty="0"/>
          </a:p>
        </p:txBody>
      </p:sp>
      <p:sp>
        <p:nvSpPr>
          <p:cNvPr id="59" name="Text 57"/>
          <p:cNvSpPr txBox="1"/>
          <p:nvPr/>
        </p:nvSpPr>
        <p:spPr>
          <a:xfrm>
            <a:off x="2571750" y="2526030"/>
            <a:ext cx="10197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+10</a:t>
            </a:r>
            <a:endParaRPr lang="en-US" sz="1130" dirty="0"/>
          </a:p>
        </p:txBody>
      </p:sp>
      <p:sp>
        <p:nvSpPr>
          <p:cNvPr id="60" name="Text 58"/>
          <p:cNvSpPr txBox="1"/>
          <p:nvPr/>
        </p:nvSpPr>
        <p:spPr>
          <a:xfrm>
            <a:off x="2571750" y="2811780"/>
            <a:ext cx="1505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+8.4</a:t>
            </a:r>
            <a:endParaRPr lang="en-US" sz="1130" dirty="0"/>
          </a:p>
        </p:txBody>
      </p:sp>
      <p:sp>
        <p:nvSpPr>
          <p:cNvPr id="61" name="Shape 59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3" name="Text 61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Main-task stage 1 (actual 50 rounds)</a:t>
            </a:r>
            <a:endParaRPr lang="en-US" sz="960" dirty="0"/>
          </a:p>
        </p:txBody>
      </p:sp>
      <p:sp>
        <p:nvSpPr>
          <p:cNvPr id="64" name="Text 62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5" name="Text 63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66" name="Text 64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69" name="Text 67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0" name="Text 68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71" name="Text 69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2628626"/>
            <a:ext cx="293056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Deficit vs. mismatch: compare with the other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843565" y="2814340"/>
            <a:ext cx="41961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6" name="Text 74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2 steps | optimal here ≈ 2.0 steps</a:t>
            </a:r>
            <a:endParaRPr lang="en-US" sz="960" dirty="0"/>
          </a:p>
        </p:txBody>
      </p:sp>
      <p:sp>
        <p:nvSpPr>
          <p:cNvPr id="77" name="Text 75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78" name="Text 76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5843565" y="3486150"/>
            <a:ext cx="733532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83" name="Text 81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84" name="Shape 82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In the lenient world, submitting early pays off: the optimal mean wait is about 2 steps.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771900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130.0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14421" y="1643085"/>
            <a:ext cx="3786165" cy="2535997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4288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928665" y="1803654"/>
            <a:ext cx="1658356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A07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World-belief probe</a:t>
            </a:r>
            <a:endParaRPr lang="en-US" sz="1180" dirty="0"/>
          </a:p>
        </p:txBody>
      </p:sp>
      <p:sp>
        <p:nvSpPr>
          <p:cNvPr id="25" name="Text 23"/>
          <p:cNvSpPr txBox="1"/>
          <p:nvPr/>
        </p:nvSpPr>
        <p:spPr>
          <a:xfrm>
            <a:off x="928665" y="2161733"/>
            <a:ext cx="39503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answered wrong now, how likely is it that you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928665" y="2390333"/>
            <a:ext cx="17205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lose 30 points?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1071585" y="3143250"/>
            <a:ext cx="3143250" cy="91"/>
          </a:xfrm>
          <a:prstGeom prst="line">
            <a:avLst/>
          </a:prstGeom>
          <a:noFill/>
          <a:ln w="42863">
            <a:solidFill>
              <a:srgbClr val="BEC4C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071585" y="3143250"/>
            <a:ext cx="785835" cy="91"/>
          </a:xfrm>
          <a:prstGeom prst="line">
            <a:avLst/>
          </a:prstGeom>
          <a:noFill/>
          <a:ln w="42863">
            <a:solidFill>
              <a:srgbClr val="2F62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778782" y="3064703"/>
            <a:ext cx="157185" cy="157185"/>
          </a:xfrm>
          <a:prstGeom prst="ellipse">
            <a:avLst/>
          </a:prstGeom>
          <a:solidFill>
            <a:srgbClr val="FFFFFF"/>
          </a:solidFill>
          <a:ln w="21431">
            <a:solidFill>
              <a:srgbClr val="2F62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1071585" y="3259836"/>
            <a:ext cx="24487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90" dirty="0"/>
          </a:p>
        </p:txBody>
      </p:sp>
      <p:sp>
        <p:nvSpPr>
          <p:cNvPr id="31" name="Text 29"/>
          <p:cNvSpPr txBox="1"/>
          <p:nvPr/>
        </p:nvSpPr>
        <p:spPr>
          <a:xfrm>
            <a:off x="3836365" y="3259836"/>
            <a:ext cx="37847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7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90" dirty="0"/>
          </a:p>
        </p:txBody>
      </p:sp>
      <p:sp>
        <p:nvSpPr>
          <p:cNvPr id="32" name="Text 30"/>
          <p:cNvSpPr txBox="1"/>
          <p:nvPr/>
        </p:nvSpPr>
        <p:spPr>
          <a:xfrm>
            <a:off x="1675821" y="2791755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35" name="Text 33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Main-task stage 1 (actual 50 rounds)</a:t>
            </a:r>
            <a:endParaRPr lang="en-US" sz="960" dirty="0"/>
          </a:p>
        </p:txBody>
      </p:sp>
      <p:sp>
        <p:nvSpPr>
          <p:cNvPr id="36" name="Text 34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41" name="Text 39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42" name="Text 40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43" name="Text 41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44" name="Text 42"/>
          <p:cNvSpPr txBox="1"/>
          <p:nvPr/>
        </p:nvSpPr>
        <p:spPr>
          <a:xfrm>
            <a:off x="5843565" y="2628626"/>
            <a:ext cx="301733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belief: measured directly to validate the</a:t>
            </a:r>
            <a:endParaRPr lang="en-US" sz="960" dirty="0"/>
          </a:p>
        </p:txBody>
      </p:sp>
      <p:sp>
        <p:nvSpPr>
          <p:cNvPr id="45" name="Text 43"/>
          <p:cNvSpPr txBox="1"/>
          <p:nvPr/>
        </p:nvSpPr>
        <p:spPr>
          <a:xfrm>
            <a:off x="5843565" y="2814340"/>
            <a:ext cx="4683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48" name="Text 46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9" name="Text 47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50" name="Text 48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843565" y="3486150"/>
            <a:ext cx="733532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55" name="Text 53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Interspersed: world-belief probe — asked every 10 rounds to measure the subject's belief about the world directly.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129235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130.0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0" name="Text 28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4" name="Text 32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2" name="Text 40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49" name="Text 47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0</a:t>
            </a:r>
            <a:endParaRPr lang="en-US" sz="1010" dirty="0"/>
          </a:p>
        </p:txBody>
      </p:sp>
      <p:sp>
        <p:nvSpPr>
          <p:cNvPr id="50" name="Text 48"/>
          <p:cNvSpPr txBox="1"/>
          <p:nvPr/>
        </p:nvSpPr>
        <p:spPr>
          <a:xfrm>
            <a:off x="2571750" y="2342876"/>
            <a:ext cx="196687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screen looks exactly the</a:t>
            </a:r>
            <a:endParaRPr lang="en-US" sz="960" dirty="0"/>
          </a:p>
        </p:txBody>
      </p:sp>
      <p:sp>
        <p:nvSpPr>
          <p:cNvPr id="51" name="Text 49"/>
          <p:cNvSpPr txBox="1"/>
          <p:nvPr/>
        </p:nvSpPr>
        <p:spPr>
          <a:xfrm>
            <a:off x="2571750" y="2528590"/>
            <a:ext cx="105960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 usual)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54" name="Text 52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Main-task stage 2 (actual 50 rounds)</a:t>
            </a:r>
            <a:endParaRPr lang="en-US" sz="960" dirty="0"/>
          </a:p>
        </p:txBody>
      </p:sp>
      <p:sp>
        <p:nvSpPr>
          <p:cNvPr id="55" name="Text 53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56" name="Text 54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57" name="Text 55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FCE6E6"/>
          </a:solidFill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 txBox="1"/>
          <p:nvPr/>
        </p:nvSpPr>
        <p:spPr>
          <a:xfrm>
            <a:off x="5922569" y="1995952"/>
            <a:ext cx="91357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960" dirty="0"/>
          </a:p>
        </p:txBody>
      </p:sp>
      <p:sp>
        <p:nvSpPr>
          <p:cNvPr id="60" name="Text 58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61" name="Text 59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62" name="Text 60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63" name="Text 61"/>
          <p:cNvSpPr txBox="1"/>
          <p:nvPr/>
        </p:nvSpPr>
        <p:spPr>
          <a:xfrm>
            <a:off x="5843565" y="2628626"/>
            <a:ext cx="280958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Lag: how fast subjects catch up (lenient →</a:t>
            </a:r>
            <a:endParaRPr lang="en-US" sz="960" dirty="0"/>
          </a:p>
        </p:txBody>
      </p:sp>
      <p:sp>
        <p:nvSpPr>
          <p:cNvPr id="64" name="Text 62"/>
          <p:cNvSpPr txBox="1"/>
          <p:nvPr/>
        </p:nvSpPr>
        <p:spPr>
          <a:xfrm>
            <a:off x="5843565" y="2814340"/>
            <a:ext cx="48454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harsh)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67" name="Text 65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68" name="Text 66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69" name="Text 67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5843565" y="3486150"/>
            <a:ext cx="733532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74" name="Text 72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75" name="Shape 73"/>
          <p:cNvSpPr/>
          <p:nvPr/>
        </p:nvSpPr>
        <p:spPr>
          <a:xfrm>
            <a:off x="5086350" y="4043385"/>
            <a:ext cx="3343321" cy="214335"/>
          </a:xfrm>
          <a:prstGeom prst="roundRect">
            <a:avLst>
              <a:gd name="adj" fmla="val 33319"/>
            </a:avLst>
          </a:prstGeom>
          <a:solidFill>
            <a:srgbClr val="FED6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 txBox="1"/>
          <p:nvPr/>
        </p:nvSpPr>
        <p:spPr>
          <a:xfrm>
            <a:off x="5165263" y="4059113"/>
            <a:ext cx="31854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switch: lenient → harsh (subject not told)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The world switches to harsh without notice: nothing changes on the subject's screen.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129235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138.4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0082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2" name="Text 40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6" name="Text 44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 flipV="1"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6" name="Text 54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2</a:t>
            </a:r>
            <a:endParaRPr lang="en-US" sz="1010" dirty="0"/>
          </a:p>
        </p:txBody>
      </p:sp>
      <p:sp>
        <p:nvSpPr>
          <p:cNvPr id="57" name="Text 55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−1.6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2571750" y="2268901"/>
            <a:ext cx="14750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A</a:t>
            </a:r>
            <a:endParaRPr lang="en-US" sz="1130" dirty="0"/>
          </a:p>
        </p:txBody>
      </p:sp>
      <p:sp>
        <p:nvSpPr>
          <p:cNvPr id="59" name="Text 57"/>
          <p:cNvSpPr txBox="1"/>
          <p:nvPr/>
        </p:nvSpPr>
        <p:spPr>
          <a:xfrm>
            <a:off x="2571750" y="2526030"/>
            <a:ext cx="10197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+10</a:t>
            </a:r>
            <a:endParaRPr lang="en-US" sz="1130" dirty="0"/>
          </a:p>
        </p:txBody>
      </p:sp>
      <p:sp>
        <p:nvSpPr>
          <p:cNvPr id="60" name="Text 58"/>
          <p:cNvSpPr txBox="1"/>
          <p:nvPr/>
        </p:nvSpPr>
        <p:spPr>
          <a:xfrm>
            <a:off x="2571750" y="2811780"/>
            <a:ext cx="1505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+8.4</a:t>
            </a:r>
            <a:endParaRPr lang="en-US" sz="1130" dirty="0"/>
          </a:p>
        </p:txBody>
      </p:sp>
      <p:sp>
        <p:nvSpPr>
          <p:cNvPr id="61" name="Shape 59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3" name="Text 61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Main-task stage 2 (actual 50 rounds)</a:t>
            </a:r>
            <a:endParaRPr lang="en-US" sz="960" dirty="0"/>
          </a:p>
        </p:txBody>
      </p:sp>
      <p:sp>
        <p:nvSpPr>
          <p:cNvPr id="64" name="Text 62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5" name="Text 63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66" name="Text 64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FCE6E6"/>
          </a:solidFill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 txBox="1"/>
          <p:nvPr/>
        </p:nvSpPr>
        <p:spPr>
          <a:xfrm>
            <a:off x="5922569" y="1995952"/>
            <a:ext cx="91357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960" dirty="0"/>
          </a:p>
        </p:txBody>
      </p:sp>
      <p:sp>
        <p:nvSpPr>
          <p:cNvPr id="69" name="Text 67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0" name="Text 68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71" name="Text 69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2628626"/>
            <a:ext cx="280958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Lag: how fast subjects catch up (lenient →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843565" y="2814340"/>
            <a:ext cx="48454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harsh)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6" name="Text 74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2 steps | optimal here ≈ 4.7 steps</a:t>
            </a:r>
            <a:endParaRPr lang="en-US" sz="960" dirty="0"/>
          </a:p>
        </p:txBody>
      </p:sp>
      <p:sp>
        <p:nvSpPr>
          <p:cNvPr id="77" name="Text 75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78" name="Text 76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5843565" y="3486150"/>
            <a:ext cx="747339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83" name="Text 81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84" name="Shape 82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Main-task stage 2 (harsh): the subject does not know the world changed and still waits 2 steps.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129235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106.8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93068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50082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2" name="Text 30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9" name="Text 37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917966" y="2616007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 flipV="1">
            <a:off x="943021" y="2589581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6" name="Text 44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50" name="Text 48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7" name="Text 55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2</a:t>
            </a:r>
            <a:endParaRPr lang="en-US" sz="1010" dirty="0"/>
          </a:p>
        </p:txBody>
      </p:sp>
      <p:sp>
        <p:nvSpPr>
          <p:cNvPr id="58" name="Text 56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−1.6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2571750" y="2268901"/>
            <a:ext cx="14814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B</a:t>
            </a:r>
            <a:endParaRPr lang="en-US" sz="1130" dirty="0"/>
          </a:p>
        </p:txBody>
      </p:sp>
      <p:sp>
        <p:nvSpPr>
          <p:cNvPr id="60" name="Shape 58"/>
          <p:cNvSpPr/>
          <p:nvPr/>
        </p:nvSpPr>
        <p:spPr>
          <a:xfrm>
            <a:off x="2535997" y="2486071"/>
            <a:ext cx="2000250" cy="257221"/>
          </a:xfrm>
          <a:prstGeom prst="roundRect">
            <a:avLst>
              <a:gd name="adj" fmla="val 22218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 txBox="1"/>
          <p:nvPr/>
        </p:nvSpPr>
        <p:spPr>
          <a:xfrm>
            <a:off x="2607503" y="2500335"/>
            <a:ext cx="21120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Wrong: large penalty −30</a:t>
            </a:r>
            <a:endParaRPr lang="en-US" sz="1130" dirty="0"/>
          </a:p>
        </p:txBody>
      </p:sp>
      <p:sp>
        <p:nvSpPr>
          <p:cNvPr id="62" name="Text 60"/>
          <p:cNvSpPr txBox="1"/>
          <p:nvPr/>
        </p:nvSpPr>
        <p:spPr>
          <a:xfrm>
            <a:off x="2571750" y="2811780"/>
            <a:ext cx="16009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−31.6</a:t>
            </a:r>
            <a:endParaRPr lang="en-US" sz="1130" dirty="0"/>
          </a:p>
        </p:txBody>
      </p:sp>
      <p:sp>
        <p:nvSpPr>
          <p:cNvPr id="63" name="Shape 61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5" name="Text 63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Main-task stage 2 (actual 50 rounds)</a:t>
            </a:r>
            <a:endParaRPr lang="en-US" sz="960" dirty="0"/>
          </a:p>
        </p:txBody>
      </p:sp>
      <p:sp>
        <p:nvSpPr>
          <p:cNvPr id="66" name="Text 64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7" name="Text 65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68" name="Text 66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69" name="Shape 67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FCE6E6"/>
          </a:solidFill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 txBox="1"/>
          <p:nvPr/>
        </p:nvSpPr>
        <p:spPr>
          <a:xfrm>
            <a:off x="5922569" y="1995952"/>
            <a:ext cx="91357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960" dirty="0"/>
          </a:p>
        </p:txBody>
      </p:sp>
      <p:sp>
        <p:nvSpPr>
          <p:cNvPr id="71" name="Text 69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4" name="Text 72"/>
          <p:cNvSpPr txBox="1"/>
          <p:nvPr/>
        </p:nvSpPr>
        <p:spPr>
          <a:xfrm>
            <a:off x="5843565" y="2628626"/>
            <a:ext cx="280958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Lag: how fast subjects catch up (lenient →</a:t>
            </a:r>
            <a:endParaRPr lang="en-US" sz="960" dirty="0"/>
          </a:p>
        </p:txBody>
      </p:sp>
      <p:sp>
        <p:nvSpPr>
          <p:cNvPr id="75" name="Text 73"/>
          <p:cNvSpPr txBox="1"/>
          <p:nvPr/>
        </p:nvSpPr>
        <p:spPr>
          <a:xfrm>
            <a:off x="5843565" y="2814340"/>
            <a:ext cx="48454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harsh)</a:t>
            </a:r>
            <a:endParaRPr lang="en-US" sz="960" dirty="0"/>
          </a:p>
        </p:txBody>
      </p:sp>
      <p:sp>
        <p:nvSpPr>
          <p:cNvPr id="76" name="Shape 74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8" name="Text 76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2 steps | optimal here ≈ 4.7 steps</a:t>
            </a:r>
            <a:endParaRPr lang="en-US" sz="960" dirty="0"/>
          </a:p>
        </p:txBody>
      </p:sp>
      <p:sp>
        <p:nvSpPr>
          <p:cNvPr id="79" name="Text 77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80" name="Text 78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 txBox="1"/>
          <p:nvPr/>
        </p:nvSpPr>
        <p:spPr>
          <a:xfrm>
            <a:off x="8072415" y="3480481"/>
            <a:ext cx="4222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85" name="Text 83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86" name="Shape 84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A wrong answer with a large −30 penalty: this single piece of evidence proves the world is now harsh.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129235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0579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112.8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0082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064453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03681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 flipV="1">
            <a:off x="1128735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41" name="Text 39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917966" y="2616007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 flipV="1">
            <a:off x="943021" y="2589581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8" name="Text 46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1721632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760952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 flipV="1">
            <a:off x="1785915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55" name="Text 53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 flipV="1"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65" name="Text 63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5</a:t>
            </a:r>
            <a:endParaRPr lang="en-US" sz="1010" dirty="0"/>
          </a:p>
        </p:txBody>
      </p:sp>
      <p:sp>
        <p:nvSpPr>
          <p:cNvPr id="66" name="Text 64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−4.0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2571750" y="2268901"/>
            <a:ext cx="14750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A</a:t>
            </a:r>
            <a:endParaRPr lang="en-US" sz="1130" dirty="0"/>
          </a:p>
        </p:txBody>
      </p:sp>
      <p:sp>
        <p:nvSpPr>
          <p:cNvPr id="68" name="Text 66"/>
          <p:cNvSpPr txBox="1"/>
          <p:nvPr/>
        </p:nvSpPr>
        <p:spPr>
          <a:xfrm>
            <a:off x="2571750" y="2526030"/>
            <a:ext cx="10197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+10</a:t>
            </a:r>
            <a:endParaRPr lang="en-US" sz="1130" dirty="0"/>
          </a:p>
        </p:txBody>
      </p:sp>
      <p:sp>
        <p:nvSpPr>
          <p:cNvPr id="69" name="Text 67"/>
          <p:cNvSpPr txBox="1"/>
          <p:nvPr/>
        </p:nvSpPr>
        <p:spPr>
          <a:xfrm>
            <a:off x="2571750" y="2811780"/>
            <a:ext cx="1505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+6.0</a:t>
            </a:r>
            <a:endParaRPr lang="en-US" sz="1130" dirty="0"/>
          </a:p>
        </p:txBody>
      </p:sp>
      <p:sp>
        <p:nvSpPr>
          <p:cNvPr id="70" name="Shape 68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Main-task stage 2 (actual 50 rounds)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74" name="Text 72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75" name="Text 73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76" name="Shape 74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FCE6E6"/>
          </a:solidFill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 txBox="1"/>
          <p:nvPr/>
        </p:nvSpPr>
        <p:spPr>
          <a:xfrm>
            <a:off x="5922569" y="1995952"/>
            <a:ext cx="91357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960" dirty="0"/>
          </a:p>
        </p:txBody>
      </p:sp>
      <p:sp>
        <p:nvSpPr>
          <p:cNvPr id="78" name="Text 76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9" name="Text 77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80" name="Text 78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81" name="Text 79"/>
          <p:cNvSpPr txBox="1"/>
          <p:nvPr/>
        </p:nvSpPr>
        <p:spPr>
          <a:xfrm>
            <a:off x="5843565" y="2628626"/>
            <a:ext cx="280958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Lag: how fast subjects catch up (lenient →</a:t>
            </a:r>
            <a:endParaRPr lang="en-US" sz="960" dirty="0"/>
          </a:p>
        </p:txBody>
      </p:sp>
      <p:sp>
        <p:nvSpPr>
          <p:cNvPr id="82" name="Text 80"/>
          <p:cNvSpPr txBox="1"/>
          <p:nvPr/>
        </p:nvSpPr>
        <p:spPr>
          <a:xfrm>
            <a:off x="5843565" y="2814340"/>
            <a:ext cx="48454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harsh)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85" name="Text 83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5 steps | optimal here ≈ 4.7 steps</a:t>
            </a:r>
            <a:endParaRPr lang="en-US" sz="960" dirty="0"/>
          </a:p>
        </p:txBody>
      </p:sp>
      <p:sp>
        <p:nvSpPr>
          <p:cNvPr id="86" name="Text 84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87" name="Text 85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88" name="Shape 86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>
            <a:off x="5843565" y="3486150"/>
            <a:ext cx="2114276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0" name="Text 88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900" dirty="0"/>
          </a:p>
        </p:txBody>
      </p:sp>
      <p:sp>
        <p:nvSpPr>
          <p:cNvPr id="91" name="Text 89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92" name="Text 90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93" name="Shape 91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Text 92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The subject starts waiting longer (5 steps): the optimal mean wait in the harsh world is about 4.7 steps.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129235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0579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112.8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14421" y="1643085"/>
            <a:ext cx="3786165" cy="2535997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4288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928665" y="1803654"/>
            <a:ext cx="1658356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A07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World-belief probe</a:t>
            </a:r>
            <a:endParaRPr lang="en-US" sz="1180" dirty="0"/>
          </a:p>
        </p:txBody>
      </p:sp>
      <p:sp>
        <p:nvSpPr>
          <p:cNvPr id="25" name="Text 23"/>
          <p:cNvSpPr txBox="1"/>
          <p:nvPr/>
        </p:nvSpPr>
        <p:spPr>
          <a:xfrm>
            <a:off x="928665" y="2161733"/>
            <a:ext cx="39503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answered wrong now, how likely is it that you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928665" y="2390333"/>
            <a:ext cx="17205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lose 30 points?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1071585" y="3143250"/>
            <a:ext cx="3143250" cy="91"/>
          </a:xfrm>
          <a:prstGeom prst="line">
            <a:avLst/>
          </a:prstGeom>
          <a:noFill/>
          <a:ln w="42863">
            <a:solidFill>
              <a:srgbClr val="BEC4C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071585" y="3143250"/>
            <a:ext cx="2671785" cy="91"/>
          </a:xfrm>
          <a:prstGeom prst="line">
            <a:avLst/>
          </a:prstGeom>
          <a:noFill/>
          <a:ln w="42863">
            <a:solidFill>
              <a:srgbClr val="2F62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664732" y="3064703"/>
            <a:ext cx="157185" cy="157185"/>
          </a:xfrm>
          <a:prstGeom prst="ellipse">
            <a:avLst/>
          </a:prstGeom>
          <a:solidFill>
            <a:srgbClr val="FFFFFF"/>
          </a:solidFill>
          <a:ln w="21431">
            <a:solidFill>
              <a:srgbClr val="2F62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1071585" y="3259836"/>
            <a:ext cx="24487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90" dirty="0"/>
          </a:p>
        </p:txBody>
      </p:sp>
      <p:sp>
        <p:nvSpPr>
          <p:cNvPr id="31" name="Text 29"/>
          <p:cNvSpPr txBox="1"/>
          <p:nvPr/>
        </p:nvSpPr>
        <p:spPr>
          <a:xfrm>
            <a:off x="3836365" y="3259836"/>
            <a:ext cx="37847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7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90" dirty="0"/>
          </a:p>
        </p:txBody>
      </p:sp>
      <p:sp>
        <p:nvSpPr>
          <p:cNvPr id="32" name="Text 30"/>
          <p:cNvSpPr txBox="1"/>
          <p:nvPr/>
        </p:nvSpPr>
        <p:spPr>
          <a:xfrm>
            <a:off x="3561771" y="2791755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35" name="Text 33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Main-task stage 2 (actual 50 rounds)</a:t>
            </a:r>
            <a:endParaRPr lang="en-US" sz="960" dirty="0"/>
          </a:p>
        </p:txBody>
      </p:sp>
      <p:sp>
        <p:nvSpPr>
          <p:cNvPr id="36" name="Text 34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FCE6E6"/>
          </a:solidFill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5922569" y="1995952"/>
            <a:ext cx="91357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960" dirty="0"/>
          </a:p>
        </p:txBody>
      </p:sp>
      <p:sp>
        <p:nvSpPr>
          <p:cNvPr id="41" name="Text 39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42" name="Text 40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43" name="Text 41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44" name="Text 42"/>
          <p:cNvSpPr txBox="1"/>
          <p:nvPr/>
        </p:nvSpPr>
        <p:spPr>
          <a:xfrm>
            <a:off x="5843565" y="2628626"/>
            <a:ext cx="301733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belief: measured directly to validate the</a:t>
            </a:r>
            <a:endParaRPr lang="en-US" sz="960" dirty="0"/>
          </a:p>
        </p:txBody>
      </p:sp>
      <p:sp>
        <p:nvSpPr>
          <p:cNvPr id="45" name="Text 43"/>
          <p:cNvSpPr txBox="1"/>
          <p:nvPr/>
        </p:nvSpPr>
        <p:spPr>
          <a:xfrm>
            <a:off x="5843565" y="2814340"/>
            <a:ext cx="4683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48" name="Text 46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9" name="Text 47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50" name="Text 48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843565" y="3486150"/>
            <a:ext cx="2114276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55" name="Text 53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Interspersed: world-belief probe.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6486571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0579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112.8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0" name="Text 28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4" name="Text 32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2" name="Text 40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49" name="Text 47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0</a:t>
            </a:r>
            <a:endParaRPr lang="en-US" sz="1010" dirty="0"/>
          </a:p>
        </p:txBody>
      </p:sp>
      <p:sp>
        <p:nvSpPr>
          <p:cNvPr id="50" name="Text 48"/>
          <p:cNvSpPr txBox="1"/>
          <p:nvPr/>
        </p:nvSpPr>
        <p:spPr>
          <a:xfrm>
            <a:off x="2571750" y="2342876"/>
            <a:ext cx="196687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screen looks exactly the</a:t>
            </a:r>
            <a:endParaRPr lang="en-US" sz="960" dirty="0"/>
          </a:p>
        </p:txBody>
      </p:sp>
      <p:sp>
        <p:nvSpPr>
          <p:cNvPr id="51" name="Text 49"/>
          <p:cNvSpPr txBox="1"/>
          <p:nvPr/>
        </p:nvSpPr>
        <p:spPr>
          <a:xfrm>
            <a:off x="2571750" y="2528590"/>
            <a:ext cx="105960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 usual)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54" name="Text 52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Main-task stage 3 (actual 50 rounds)</a:t>
            </a:r>
            <a:endParaRPr lang="en-US" sz="960" dirty="0"/>
          </a:p>
        </p:txBody>
      </p:sp>
      <p:sp>
        <p:nvSpPr>
          <p:cNvPr id="55" name="Text 53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56" name="Text 54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57" name="Text 55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60" name="Text 58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61" name="Text 59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62" name="Text 60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63" name="Text 61"/>
          <p:cNvSpPr txBox="1"/>
          <p:nvPr/>
        </p:nvSpPr>
        <p:spPr>
          <a:xfrm>
            <a:off x="5843565" y="2628626"/>
            <a:ext cx="2995392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&amp; asymmetry: is harsh → lenient slower?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66" name="Text 64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67" name="Text 65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68" name="Text 66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5843565" y="3486150"/>
            <a:ext cx="2114276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73" name="Text 71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74" name="Shape 72"/>
          <p:cNvSpPr/>
          <p:nvPr/>
        </p:nvSpPr>
        <p:spPr>
          <a:xfrm>
            <a:off x="5086350" y="4043385"/>
            <a:ext cx="3343321" cy="214335"/>
          </a:xfrm>
          <a:prstGeom prst="roundRect">
            <a:avLst>
              <a:gd name="adj" fmla="val 33319"/>
            </a:avLst>
          </a:prstGeom>
          <a:solidFill>
            <a:srgbClr val="FED6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 txBox="1"/>
          <p:nvPr/>
        </p:nvSpPr>
        <p:spPr>
          <a:xfrm>
            <a:off x="5165263" y="4059113"/>
            <a:ext cx="31854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switch: harsh → lenient (subject not told)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The world switches back to lenient, again without notice.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6486571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0579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118.8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93068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22995" y="1887413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 flipV="1">
            <a:off x="922995" y="1887413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922995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 flipV="1">
            <a:off x="922995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5" name="Text 43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1721632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760952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 flipV="1">
            <a:off x="1785915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9073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9466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 flipV="1">
            <a:off x="19717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55" name="Text 53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760952" y="2616007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 flipV="1">
            <a:off x="1785915" y="2589581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65" name="Text 63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5</a:t>
            </a:r>
            <a:endParaRPr lang="en-US" sz="1010" dirty="0"/>
          </a:p>
        </p:txBody>
      </p:sp>
      <p:sp>
        <p:nvSpPr>
          <p:cNvPr id="66" name="Text 64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−4.0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2571750" y="2268901"/>
            <a:ext cx="14814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B</a:t>
            </a:r>
            <a:endParaRPr lang="en-US" sz="1130" dirty="0"/>
          </a:p>
        </p:txBody>
      </p:sp>
      <p:sp>
        <p:nvSpPr>
          <p:cNvPr id="68" name="Text 66"/>
          <p:cNvSpPr txBox="1"/>
          <p:nvPr/>
        </p:nvSpPr>
        <p:spPr>
          <a:xfrm>
            <a:off x="2571750" y="2526030"/>
            <a:ext cx="10197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+10</a:t>
            </a:r>
            <a:endParaRPr lang="en-US" sz="1130" dirty="0"/>
          </a:p>
        </p:txBody>
      </p:sp>
      <p:sp>
        <p:nvSpPr>
          <p:cNvPr id="69" name="Text 67"/>
          <p:cNvSpPr txBox="1"/>
          <p:nvPr/>
        </p:nvSpPr>
        <p:spPr>
          <a:xfrm>
            <a:off x="2571750" y="2811780"/>
            <a:ext cx="1505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+6.0</a:t>
            </a:r>
            <a:endParaRPr lang="en-US" sz="1130" dirty="0"/>
          </a:p>
        </p:txBody>
      </p:sp>
      <p:sp>
        <p:nvSpPr>
          <p:cNvPr id="70" name="Shape 68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Main-task stage 3 (actual 50 rounds)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74" name="Text 72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75" name="Text 73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76" name="Shape 74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78" name="Text 76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9" name="Text 77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80" name="Text 78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81" name="Text 79"/>
          <p:cNvSpPr txBox="1"/>
          <p:nvPr/>
        </p:nvSpPr>
        <p:spPr>
          <a:xfrm>
            <a:off x="5843565" y="2628626"/>
            <a:ext cx="2995392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&amp; asymmetry: is harsh → lenient slower?</a:t>
            </a:r>
            <a:endParaRPr lang="en-US" sz="960" dirty="0"/>
          </a:p>
        </p:txBody>
      </p:sp>
      <p:sp>
        <p:nvSpPr>
          <p:cNvPr id="82" name="Shape 80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84" name="Text 82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5 steps | optimal here ≈ 2.0 steps</a:t>
            </a:r>
            <a:endParaRPr lang="en-US" sz="960" dirty="0"/>
          </a:p>
        </p:txBody>
      </p:sp>
      <p:sp>
        <p:nvSpPr>
          <p:cNvPr id="85" name="Text 83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86" name="Text 84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87" name="Shape 85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86"/>
          <p:cNvSpPr/>
          <p:nvPr/>
        </p:nvSpPr>
        <p:spPr>
          <a:xfrm>
            <a:off x="5843565" y="3486150"/>
            <a:ext cx="2072853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9" name="Text 87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91" name="Text 89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92" name="Shape 90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 91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Main-task stage 3 (lenient): the subject still waits 5 steps. Is this lag? Compare with the ideal learner.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6486571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0579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113.6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0082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593068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2" name="Text 30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22995" y="1887413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 flipV="1">
            <a:off x="922995" y="1887413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9" name="Text 37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922995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 flipV="1">
            <a:off x="922995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6" name="Text 44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721632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760952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 flipV="1">
            <a:off x="1785915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53" name="Text 51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760952" y="2616007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 flipV="1">
            <a:off x="1785915" y="2589581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63" name="Text 61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4</a:t>
            </a:r>
            <a:endParaRPr lang="en-US" sz="1010" dirty="0"/>
          </a:p>
        </p:txBody>
      </p:sp>
      <p:sp>
        <p:nvSpPr>
          <p:cNvPr id="64" name="Text 62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−3.2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2571750" y="2268901"/>
            <a:ext cx="14750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A</a:t>
            </a:r>
            <a:endParaRPr lang="en-US" sz="1130" dirty="0"/>
          </a:p>
        </p:txBody>
      </p:sp>
      <p:sp>
        <p:nvSpPr>
          <p:cNvPr id="66" name="Text 64"/>
          <p:cNvSpPr txBox="1"/>
          <p:nvPr/>
        </p:nvSpPr>
        <p:spPr>
          <a:xfrm>
            <a:off x="2571750" y="2526030"/>
            <a:ext cx="8542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−2</a:t>
            </a:r>
            <a:endParaRPr lang="en-US" sz="1130" dirty="0"/>
          </a:p>
        </p:txBody>
      </p:sp>
      <p:sp>
        <p:nvSpPr>
          <p:cNvPr id="67" name="Text 65"/>
          <p:cNvSpPr txBox="1"/>
          <p:nvPr/>
        </p:nvSpPr>
        <p:spPr>
          <a:xfrm>
            <a:off x="2571750" y="2811780"/>
            <a:ext cx="1505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−5.2</a:t>
            </a:r>
            <a:endParaRPr lang="en-US" sz="1130" dirty="0"/>
          </a:p>
        </p:txBody>
      </p:sp>
      <p:sp>
        <p:nvSpPr>
          <p:cNvPr id="68" name="Shape 66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70" name="Text 68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Main-task stage 3 (actual 50 rounds)</a:t>
            </a:r>
            <a:endParaRPr lang="en-US" sz="960" dirty="0"/>
          </a:p>
        </p:txBody>
      </p:sp>
      <p:sp>
        <p:nvSpPr>
          <p:cNvPr id="71" name="Text 69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76" name="Text 74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7" name="Text 75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78" name="Text 76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9" name="Text 77"/>
          <p:cNvSpPr txBox="1"/>
          <p:nvPr/>
        </p:nvSpPr>
        <p:spPr>
          <a:xfrm>
            <a:off x="5843565" y="2628626"/>
            <a:ext cx="2995392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&amp; asymmetry: is harsh → lenient slower?</a:t>
            </a:r>
            <a:endParaRPr lang="en-US" sz="960" dirty="0"/>
          </a:p>
        </p:txBody>
      </p:sp>
      <p:sp>
        <p:nvSpPr>
          <p:cNvPr id="80" name="Shape 78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82" name="Text 80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4 steps | optimal here ≈ 2.0 steps</a:t>
            </a:r>
            <a:endParaRPr lang="en-US" sz="960" dirty="0"/>
          </a:p>
        </p:txBody>
      </p:sp>
      <p:sp>
        <p:nvSpPr>
          <p:cNvPr id="83" name="Text 81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84" name="Text 82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84"/>
          <p:cNvSpPr/>
          <p:nvPr/>
        </p:nvSpPr>
        <p:spPr>
          <a:xfrm>
            <a:off x="5843565" y="3486150"/>
            <a:ext cx="1922252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89" name="Text 87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90" name="Shape 88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Text 89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A wrong answer costing only 2 points favors lenient, but one piece is not enough; the ideal learner has not switched either.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6486571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121.2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0082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917966" y="2616007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 flipV="1">
            <a:off x="943021" y="2589581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5" name="Text 43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9" name="Text 47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 flipV="1"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9" name="Text 57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3</a:t>
            </a:r>
            <a:endParaRPr lang="en-US" sz="1010" dirty="0"/>
          </a:p>
        </p:txBody>
      </p:sp>
      <p:sp>
        <p:nvSpPr>
          <p:cNvPr id="60" name="Text 58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−2.4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2571750" y="2268901"/>
            <a:ext cx="14750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A</a:t>
            </a:r>
            <a:endParaRPr lang="en-US" sz="1130" dirty="0"/>
          </a:p>
        </p:txBody>
      </p:sp>
      <p:sp>
        <p:nvSpPr>
          <p:cNvPr id="62" name="Text 60"/>
          <p:cNvSpPr txBox="1"/>
          <p:nvPr/>
        </p:nvSpPr>
        <p:spPr>
          <a:xfrm>
            <a:off x="2571750" y="2526030"/>
            <a:ext cx="10197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+10</a:t>
            </a:r>
            <a:endParaRPr lang="en-US" sz="1130" dirty="0"/>
          </a:p>
        </p:txBody>
      </p:sp>
      <p:sp>
        <p:nvSpPr>
          <p:cNvPr id="63" name="Text 61"/>
          <p:cNvSpPr txBox="1"/>
          <p:nvPr/>
        </p:nvSpPr>
        <p:spPr>
          <a:xfrm>
            <a:off x="2571750" y="2811780"/>
            <a:ext cx="1505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+7.6</a:t>
            </a:r>
            <a:endParaRPr lang="en-US" sz="1130" dirty="0"/>
          </a:p>
        </p:txBody>
      </p:sp>
      <p:sp>
        <p:nvSpPr>
          <p:cNvPr id="64" name="Shape 62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6" name="Text 64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Main-task stage 3 (actual 50 rounds)</a:t>
            </a:r>
            <a:endParaRPr lang="en-US" sz="960" dirty="0"/>
          </a:p>
        </p:txBody>
      </p:sp>
      <p:sp>
        <p:nvSpPr>
          <p:cNvPr id="67" name="Text 65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8" name="Text 66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69" name="Text 67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72" name="Text 70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3" name="Text 71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74" name="Text 72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5" name="Text 73"/>
          <p:cNvSpPr txBox="1"/>
          <p:nvPr/>
        </p:nvSpPr>
        <p:spPr>
          <a:xfrm>
            <a:off x="5843565" y="2628626"/>
            <a:ext cx="2995392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&amp; asymmetry: is harsh → lenient slower?</a:t>
            </a:r>
            <a:endParaRPr lang="en-US" sz="960" dirty="0"/>
          </a:p>
        </p:txBody>
      </p:sp>
      <p:sp>
        <p:nvSpPr>
          <p:cNvPr id="76" name="Shape 74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8" name="Text 76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3 steps | optimal here ≈ 2.0 steps</a:t>
            </a:r>
            <a:endParaRPr lang="en-US" sz="960" dirty="0"/>
          </a:p>
        </p:txBody>
      </p:sp>
      <p:sp>
        <p:nvSpPr>
          <p:cNvPr id="79" name="Text 77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80" name="Text 78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5843565" y="3486150"/>
            <a:ext cx="1888510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85" name="Text 83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86" name="Shape 84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Only catching up more slowly than the ideal learner counts as true lag.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6486571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DBD9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121.2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14421" y="1643085"/>
            <a:ext cx="3786165" cy="2535997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4288">
            <a:solidFill>
              <a:srgbClr val="B48C1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928665" y="1803654"/>
            <a:ext cx="1658356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A07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World-belief probe</a:t>
            </a:r>
            <a:endParaRPr lang="en-US" sz="1180" dirty="0"/>
          </a:p>
        </p:txBody>
      </p:sp>
      <p:sp>
        <p:nvSpPr>
          <p:cNvPr id="25" name="Text 23"/>
          <p:cNvSpPr txBox="1"/>
          <p:nvPr/>
        </p:nvSpPr>
        <p:spPr>
          <a:xfrm>
            <a:off x="928665" y="2161733"/>
            <a:ext cx="39503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answered wrong now, how likely is it that you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928665" y="2390333"/>
            <a:ext cx="17205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lose 30 points?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1071585" y="3143250"/>
            <a:ext cx="3143250" cy="91"/>
          </a:xfrm>
          <a:prstGeom prst="line">
            <a:avLst/>
          </a:prstGeom>
          <a:noFill/>
          <a:ln w="42863">
            <a:solidFill>
              <a:srgbClr val="BEC4C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071585" y="3143250"/>
            <a:ext cx="1728765" cy="91"/>
          </a:xfrm>
          <a:prstGeom prst="line">
            <a:avLst/>
          </a:prstGeom>
          <a:noFill/>
          <a:ln w="42863">
            <a:solidFill>
              <a:srgbClr val="2F62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2721803" y="3064703"/>
            <a:ext cx="157185" cy="157185"/>
          </a:xfrm>
          <a:prstGeom prst="ellipse">
            <a:avLst/>
          </a:prstGeom>
          <a:solidFill>
            <a:srgbClr val="FFFFFF"/>
          </a:solidFill>
          <a:ln w="21431">
            <a:solidFill>
              <a:srgbClr val="2F62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1071585" y="3259836"/>
            <a:ext cx="24487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90" dirty="0"/>
          </a:p>
        </p:txBody>
      </p:sp>
      <p:sp>
        <p:nvSpPr>
          <p:cNvPr id="31" name="Text 29"/>
          <p:cNvSpPr txBox="1"/>
          <p:nvPr/>
        </p:nvSpPr>
        <p:spPr>
          <a:xfrm>
            <a:off x="3836365" y="3259836"/>
            <a:ext cx="37847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7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90" dirty="0"/>
          </a:p>
        </p:txBody>
      </p:sp>
      <p:sp>
        <p:nvSpPr>
          <p:cNvPr id="32" name="Text 30"/>
          <p:cNvSpPr txBox="1"/>
          <p:nvPr/>
        </p:nvSpPr>
        <p:spPr>
          <a:xfrm>
            <a:off x="2618842" y="2791755"/>
            <a:ext cx="36310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35" name="Text 33"/>
          <p:cNvSpPr txBox="1"/>
          <p:nvPr/>
        </p:nvSpPr>
        <p:spPr>
          <a:xfrm>
            <a:off x="5843565" y="1357061"/>
            <a:ext cx="274603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Main-task stage 3 (actual 50 rounds)</a:t>
            </a:r>
            <a:endParaRPr lang="en-US" sz="960" dirty="0"/>
          </a:p>
        </p:txBody>
      </p:sp>
      <p:sp>
        <p:nvSpPr>
          <p:cNvPr id="36" name="Text 34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41" name="Text 39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42" name="Text 40"/>
          <p:cNvSpPr txBox="1"/>
          <p:nvPr/>
        </p:nvSpPr>
        <p:spPr>
          <a:xfrm>
            <a:off x="5843565" y="2299990"/>
            <a:ext cx="171596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(rules not announced)</a:t>
            </a:r>
            <a:endParaRPr lang="en-US" sz="960" dirty="0"/>
          </a:p>
        </p:txBody>
      </p:sp>
      <p:sp>
        <p:nvSpPr>
          <p:cNvPr id="43" name="Text 41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44" name="Text 42"/>
          <p:cNvSpPr txBox="1"/>
          <p:nvPr/>
        </p:nvSpPr>
        <p:spPr>
          <a:xfrm>
            <a:off x="5843565" y="2628626"/>
            <a:ext cx="301733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belief: measured directly to validate the</a:t>
            </a:r>
            <a:endParaRPr lang="en-US" sz="960" dirty="0"/>
          </a:p>
        </p:txBody>
      </p:sp>
      <p:sp>
        <p:nvSpPr>
          <p:cNvPr id="45" name="Text 43"/>
          <p:cNvSpPr txBox="1"/>
          <p:nvPr/>
        </p:nvSpPr>
        <p:spPr>
          <a:xfrm>
            <a:off x="5843565" y="2814340"/>
            <a:ext cx="468356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48" name="Text 46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9" name="Text 47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50" name="Text 48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5843565" y="3486150"/>
            <a:ext cx="2157435" cy="171450"/>
          </a:xfrm>
          <a:prstGeom prst="roundRect">
            <a:avLst>
              <a:gd name="adj" fmla="val 33333"/>
            </a:avLst>
          </a:prstGeom>
          <a:solidFill>
            <a:srgbClr val="E8E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843565" y="3486150"/>
            <a:ext cx="1888510" cy="171450"/>
          </a:xfrm>
          <a:prstGeom prst="roundRect">
            <a:avLst>
              <a:gd name="adj" fmla="val 33333"/>
            </a:avLst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8072415" y="3480481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086350" y="3732215"/>
            <a:ext cx="386105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inference of P(harsh world) from the outcomes the subject has seen.</a:t>
            </a:r>
            <a:endParaRPr lang="en-US" sz="730" dirty="0"/>
          </a:p>
        </p:txBody>
      </p:sp>
      <p:sp>
        <p:nvSpPr>
          <p:cNvPr id="55" name="Text 53"/>
          <p:cNvSpPr txBox="1"/>
          <p:nvPr/>
        </p:nvSpPr>
        <p:spPr>
          <a:xfrm>
            <a:off x="5086350" y="3867912"/>
            <a:ext cx="21770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adapting later than this counts as lag.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Interspersed: world-belief probe.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786EB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7665232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121.2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14421" y="1357335"/>
            <a:ext cx="3786165" cy="2821747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1642720" y="1971721"/>
            <a:ext cx="19295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15 rounds</a:t>
            </a:r>
            <a:endParaRPr lang="en-US" sz="1690" dirty="0"/>
          </a:p>
        </p:txBody>
      </p:sp>
      <p:sp>
        <p:nvSpPr>
          <p:cNvPr id="25" name="Text 23"/>
          <p:cNvSpPr txBox="1"/>
          <p:nvPr/>
        </p:nvSpPr>
        <p:spPr>
          <a:xfrm>
            <a:off x="1516807" y="2386035"/>
            <a:ext cx="21813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in: the lenient world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1272570" y="2697480"/>
            <a:ext cx="266977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answer always costs 2 points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29" name="Text 27"/>
          <p:cNvSpPr txBox="1"/>
          <p:nvPr/>
        </p:nvSpPr>
        <p:spPr>
          <a:xfrm>
            <a:off x="5843565" y="1357061"/>
            <a:ext cx="274173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Informed block (actual 2×15 rounds)</a:t>
            </a:r>
            <a:endParaRPr lang="en-US" sz="960" dirty="0"/>
          </a:p>
        </p:txBody>
      </p:sp>
      <p:sp>
        <p:nvSpPr>
          <p:cNvPr id="30" name="Text 28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31" name="Text 29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32" name="Text 30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36" name="Text 34"/>
          <p:cNvSpPr txBox="1"/>
          <p:nvPr/>
        </p:nvSpPr>
        <p:spPr>
          <a:xfrm>
            <a:off x="5843565" y="2299990"/>
            <a:ext cx="121624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explicitly told</a:t>
            </a:r>
            <a:endParaRPr lang="en-US" sz="960" dirty="0"/>
          </a:p>
        </p:txBody>
      </p:sp>
      <p:sp>
        <p:nvSpPr>
          <p:cNvPr id="37" name="Text 35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38" name="Text 36"/>
          <p:cNvSpPr txBox="1"/>
          <p:nvPr/>
        </p:nvSpPr>
        <p:spPr>
          <a:xfrm>
            <a:off x="5843565" y="2628626"/>
            <a:ext cx="290660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Beliefs vs. preferences: what vanishes once</a:t>
            </a:r>
            <a:endParaRPr lang="en-US" sz="960" dirty="0"/>
          </a:p>
        </p:txBody>
      </p:sp>
      <p:sp>
        <p:nvSpPr>
          <p:cNvPr id="39" name="Text 37"/>
          <p:cNvSpPr txBox="1"/>
          <p:nvPr/>
        </p:nvSpPr>
        <p:spPr>
          <a:xfrm>
            <a:off x="5843565" y="2814340"/>
            <a:ext cx="84097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told is belief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42" name="Text 40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3" name="Text 41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44" name="Text 42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45" name="Text 43"/>
          <p:cNvSpPr txBox="1"/>
          <p:nvPr/>
        </p:nvSpPr>
        <p:spPr>
          <a:xfrm>
            <a:off x="5843565" y="3514405"/>
            <a:ext cx="174860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Told; no inference needed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Informed block: subjects are explicitly told which world they are in.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786EB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7665232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129.6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0082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2" name="Text 40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46" name="Text 44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 flipV="1"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56" name="Text 54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2</a:t>
            </a:r>
            <a:endParaRPr lang="en-US" sz="1010" dirty="0"/>
          </a:p>
        </p:txBody>
      </p:sp>
      <p:sp>
        <p:nvSpPr>
          <p:cNvPr id="57" name="Text 55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−1.6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2571750" y="2268901"/>
            <a:ext cx="14750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A</a:t>
            </a:r>
            <a:endParaRPr lang="en-US" sz="1130" dirty="0"/>
          </a:p>
        </p:txBody>
      </p:sp>
      <p:sp>
        <p:nvSpPr>
          <p:cNvPr id="59" name="Text 57"/>
          <p:cNvSpPr txBox="1"/>
          <p:nvPr/>
        </p:nvSpPr>
        <p:spPr>
          <a:xfrm>
            <a:off x="2571750" y="2526030"/>
            <a:ext cx="10197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+10</a:t>
            </a:r>
            <a:endParaRPr lang="en-US" sz="1130" dirty="0"/>
          </a:p>
        </p:txBody>
      </p:sp>
      <p:sp>
        <p:nvSpPr>
          <p:cNvPr id="60" name="Text 58"/>
          <p:cNvSpPr txBox="1"/>
          <p:nvPr/>
        </p:nvSpPr>
        <p:spPr>
          <a:xfrm>
            <a:off x="2571750" y="2811780"/>
            <a:ext cx="1505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+8.4</a:t>
            </a:r>
            <a:endParaRPr lang="en-US" sz="1130" dirty="0"/>
          </a:p>
        </p:txBody>
      </p:sp>
      <p:sp>
        <p:nvSpPr>
          <p:cNvPr id="61" name="Shape 59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63" name="Text 61"/>
          <p:cNvSpPr txBox="1"/>
          <p:nvPr/>
        </p:nvSpPr>
        <p:spPr>
          <a:xfrm>
            <a:off x="5843565" y="1357061"/>
            <a:ext cx="274173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Informed block (actual 2×15 rounds)</a:t>
            </a:r>
            <a:endParaRPr lang="en-US" sz="960" dirty="0"/>
          </a:p>
        </p:txBody>
      </p:sp>
      <p:sp>
        <p:nvSpPr>
          <p:cNvPr id="64" name="Text 62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65" name="Text 63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66" name="Text 64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E2F5E9"/>
          </a:solidFill>
          <a:ln w="14288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 txBox="1"/>
          <p:nvPr/>
        </p:nvSpPr>
        <p:spPr>
          <a:xfrm>
            <a:off x="5869991" y="1995952"/>
            <a:ext cx="101873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Lenient world</a:t>
            </a:r>
            <a:endParaRPr lang="en-US" sz="960" dirty="0"/>
          </a:p>
        </p:txBody>
      </p:sp>
      <p:sp>
        <p:nvSpPr>
          <p:cNvPr id="69" name="Text 67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0" name="Text 68"/>
          <p:cNvSpPr txBox="1"/>
          <p:nvPr/>
        </p:nvSpPr>
        <p:spPr>
          <a:xfrm>
            <a:off x="5843565" y="2299990"/>
            <a:ext cx="121624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explicitly told</a:t>
            </a:r>
            <a:endParaRPr lang="en-US" sz="960" dirty="0"/>
          </a:p>
        </p:txBody>
      </p:sp>
      <p:sp>
        <p:nvSpPr>
          <p:cNvPr id="71" name="Text 69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2628626"/>
            <a:ext cx="290660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Beliefs vs. preferences: what vanishes once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843565" y="2814340"/>
            <a:ext cx="84097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told is belief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76" name="Text 74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2 steps | optimal here ≈ 2.0 steps</a:t>
            </a:r>
            <a:endParaRPr lang="en-US" sz="960" dirty="0"/>
          </a:p>
        </p:txBody>
      </p:sp>
      <p:sp>
        <p:nvSpPr>
          <p:cNvPr id="77" name="Text 75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78" name="Text 76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79" name="Text 77"/>
          <p:cNvSpPr txBox="1"/>
          <p:nvPr/>
        </p:nvSpPr>
        <p:spPr>
          <a:xfrm>
            <a:off x="5843565" y="3514405"/>
            <a:ext cx="174860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Told; no inference needed</a:t>
            </a:r>
            <a:endParaRPr lang="en-US" sz="960" dirty="0"/>
          </a:p>
        </p:txBody>
      </p:sp>
      <p:sp>
        <p:nvSpPr>
          <p:cNvPr id="80" name="Shape 78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Once subjects are told, deviation caused by beliefs should disappear; what remains reflects preference.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786EB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7665232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129.6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14421" y="1357335"/>
            <a:ext cx="3786165" cy="2821747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1642720" y="1971721"/>
            <a:ext cx="19295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15 rounds</a:t>
            </a:r>
            <a:endParaRPr lang="en-US" sz="1690" dirty="0"/>
          </a:p>
        </p:txBody>
      </p:sp>
      <p:sp>
        <p:nvSpPr>
          <p:cNvPr id="25" name="Text 23"/>
          <p:cNvSpPr txBox="1"/>
          <p:nvPr/>
        </p:nvSpPr>
        <p:spPr>
          <a:xfrm>
            <a:off x="1554937" y="2386035"/>
            <a:ext cx="21050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in: the harsh world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629290" y="2697480"/>
            <a:ext cx="395633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answer costs 30 points with 50% probability and</a:t>
            </a:r>
            <a:endParaRPr lang="en-US" sz="1010" dirty="0"/>
          </a:p>
        </p:txBody>
      </p:sp>
      <p:sp>
        <p:nvSpPr>
          <p:cNvPr id="27" name="Text 25"/>
          <p:cNvSpPr txBox="1"/>
          <p:nvPr/>
        </p:nvSpPr>
        <p:spPr>
          <a:xfrm>
            <a:off x="1967149" y="2911815"/>
            <a:ext cx="128070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points with 50%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5843565" y="1357061"/>
            <a:ext cx="274173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Informed block (actual 2×15 rounds)</a:t>
            </a:r>
            <a:endParaRPr lang="en-US" sz="960" dirty="0"/>
          </a:p>
        </p:txBody>
      </p:sp>
      <p:sp>
        <p:nvSpPr>
          <p:cNvPr id="31" name="Text 29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32" name="Text 30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33" name="Text 31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FCE6E6"/>
          </a:solidFill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5922569" y="1995952"/>
            <a:ext cx="91357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960" dirty="0"/>
          </a:p>
        </p:txBody>
      </p:sp>
      <p:sp>
        <p:nvSpPr>
          <p:cNvPr id="36" name="Text 34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5843565" y="2299990"/>
            <a:ext cx="121624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explicitly told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39" name="Text 37"/>
          <p:cNvSpPr txBox="1"/>
          <p:nvPr/>
        </p:nvSpPr>
        <p:spPr>
          <a:xfrm>
            <a:off x="5843565" y="2628626"/>
            <a:ext cx="290660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Beliefs vs. preferences: what vanishes once</a:t>
            </a:r>
            <a:endParaRPr lang="en-US" sz="960" dirty="0"/>
          </a:p>
        </p:txBody>
      </p:sp>
      <p:sp>
        <p:nvSpPr>
          <p:cNvPr id="40" name="Text 38"/>
          <p:cNvSpPr txBox="1"/>
          <p:nvPr/>
        </p:nvSpPr>
        <p:spPr>
          <a:xfrm>
            <a:off x="5843565" y="2814340"/>
            <a:ext cx="84097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told is belief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43" name="Text 41"/>
          <p:cNvSpPr txBox="1"/>
          <p:nvPr/>
        </p:nvSpPr>
        <p:spPr>
          <a:xfrm>
            <a:off x="5843565" y="3214390"/>
            <a:ext cx="2171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44" name="Text 42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46" name="Text 44"/>
          <p:cNvSpPr txBox="1"/>
          <p:nvPr/>
        </p:nvSpPr>
        <p:spPr>
          <a:xfrm>
            <a:off x="5843565" y="3514405"/>
            <a:ext cx="174860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Told; no inference needed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Second part of the informed block: the other world, also explicitly announced (order counterbalanced between subjects).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18907"/>
            <a:ext cx="757187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What Subjects See vs. What the Examiner Sees</a:t>
            </a:r>
            <a:endParaRPr lang="en-US" sz="158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297180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950153" y="771571"/>
            <a:ext cx="528615" cy="200071"/>
          </a:xfrm>
          <a:prstGeom prst="roundRect">
            <a:avLst>
              <a:gd name="adj" fmla="val 28565"/>
            </a:avLst>
          </a:prstGeom>
          <a:solidFill>
            <a:srgbClr val="EAEC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61949" y="797265"/>
            <a:ext cx="50502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1521653" y="771571"/>
            <a:ext cx="885871" cy="200071"/>
          </a:xfrm>
          <a:prstGeom prst="roundRect">
            <a:avLst>
              <a:gd name="adj" fmla="val 28565"/>
            </a:avLst>
          </a:prstGeom>
          <a:solidFill>
            <a:srgbClr val="E1E4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699687" y="797265"/>
            <a:ext cx="52962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450318" y="771571"/>
            <a:ext cx="671535" cy="200071"/>
          </a:xfrm>
          <a:prstGeom prst="roundRect">
            <a:avLst>
              <a:gd name="adj" fmla="val 28565"/>
            </a:avLst>
          </a:prstGeom>
          <a:solidFill>
            <a:srgbClr val="DBE6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2459370" y="797265"/>
            <a:ext cx="65343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block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164647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3321832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21982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EDCD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79168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5879318" y="771571"/>
            <a:ext cx="1314450" cy="200071"/>
          </a:xfrm>
          <a:prstGeom prst="roundRect">
            <a:avLst>
              <a:gd name="adj" fmla="val 28565"/>
            </a:avLst>
          </a:prstGeom>
          <a:solidFill>
            <a:srgbClr val="C8E2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036503" y="797265"/>
            <a:ext cx="10000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7236653" y="771571"/>
            <a:ext cx="957285" cy="200071"/>
          </a:xfrm>
          <a:prstGeom prst="roundRect">
            <a:avLst>
              <a:gd name="adj" fmla="val 28565"/>
            </a:avLst>
          </a:prstGeom>
          <a:solidFill>
            <a:srgbClr val="786EB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7280270" y="797265"/>
            <a:ext cx="8699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block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7665232" y="992947"/>
            <a:ext cx="100035" cy="50018"/>
          </a:xfrm>
          <a:prstGeom prst="triangle">
            <a:avLst/>
          </a:prstGeom>
          <a:solidFill>
            <a:srgbClr val="1C21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571500" y="1072957"/>
            <a:ext cx="10109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Subject's screen</a:t>
            </a:r>
            <a:endParaRPr lang="en-US" sz="840" dirty="0"/>
          </a:p>
        </p:txBody>
      </p:sp>
      <p:sp>
        <p:nvSpPr>
          <p:cNvPr id="20" name="Text 18"/>
          <p:cNvSpPr txBox="1"/>
          <p:nvPr/>
        </p:nvSpPr>
        <p:spPr>
          <a:xfrm>
            <a:off x="4929165" y="1072957"/>
            <a:ext cx="23864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E6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view (hidden from subjects)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" y="1214415"/>
            <a:ext cx="4071915" cy="3071835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0716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71750" y="1384767"/>
            <a:ext cx="14143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points: 135.6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64347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E5ED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07332" y="1571671"/>
            <a:ext cx="742950" cy="1471635"/>
          </a:xfrm>
          <a:prstGeom prst="roundRect">
            <a:avLst>
              <a:gd name="adj" fmla="val 11545"/>
            </a:avLst>
          </a:prstGeom>
          <a:solidFill>
            <a:srgbClr val="FCEE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01746" y="1365931"/>
            <a:ext cx="668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42080" y="1365931"/>
            <a:ext cx="67336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7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0082" y="1557315"/>
            <a:ext cx="771571" cy="1500165"/>
          </a:xfrm>
          <a:prstGeom prst="roundRect">
            <a:avLst>
              <a:gd name="adj" fmla="val 12965"/>
            </a:avLst>
          </a:prstGeom>
          <a:noFill/>
          <a:ln w="28575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1497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9419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871515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122883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78647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17966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 flipV="1">
            <a:off x="943021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064453" y="1843065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03681" y="1915942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 flipV="1">
            <a:off x="1128735" y="1889516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21497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26892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871515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80" dirty="0"/>
          </a:p>
        </p:txBody>
      </p:sp>
      <p:sp>
        <p:nvSpPr>
          <p:cNvPr id="41" name="Text 39"/>
          <p:cNvSpPr txBox="1"/>
          <p:nvPr/>
        </p:nvSpPr>
        <p:spPr>
          <a:xfrm>
            <a:off x="1122883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878647" y="2543221"/>
            <a:ext cx="142921" cy="14292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917966" y="2616007"/>
            <a:ext cx="24963" cy="2569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 flipV="1">
            <a:off x="943021" y="2589581"/>
            <a:ext cx="42885" cy="52121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664482" y="1643085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682313" y="1660916"/>
            <a:ext cx="592897" cy="592897"/>
          </a:xfrm>
          <a:prstGeom prst="rect">
            <a:avLst/>
          </a:prstGeom>
          <a:noFill/>
          <a:ln w="35719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 txBox="1"/>
          <p:nvPr/>
        </p:nvSpPr>
        <p:spPr>
          <a:xfrm>
            <a:off x="1714500" y="1668506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sp>
        <p:nvSpPr>
          <p:cNvPr id="48" name="Text 46"/>
          <p:cNvSpPr txBox="1"/>
          <p:nvPr/>
        </p:nvSpPr>
        <p:spPr>
          <a:xfrm>
            <a:off x="1965869" y="1668506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1721632" y="1843065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765981" y="1887413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 flipV="1">
            <a:off x="1765981" y="1887413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664482" y="2343150"/>
            <a:ext cx="6286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669877" y="2348545"/>
            <a:ext cx="617952" cy="617952"/>
          </a:xfrm>
          <a:prstGeom prst="rect">
            <a:avLst/>
          </a:prstGeom>
          <a:noFill/>
          <a:ln w="10716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1714500" y="2368570"/>
            <a:ext cx="19723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sp>
        <p:nvSpPr>
          <p:cNvPr id="55" name="Text 53"/>
          <p:cNvSpPr txBox="1"/>
          <p:nvPr/>
        </p:nvSpPr>
        <p:spPr>
          <a:xfrm>
            <a:off x="1965869" y="2368570"/>
            <a:ext cx="27733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1721632" y="2543221"/>
            <a:ext cx="142921" cy="14292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 flipV="1">
            <a:off x="1765981" y="2587478"/>
            <a:ext cx="54315" cy="54315"/>
          </a:xfrm>
          <a:prstGeom prst="line">
            <a:avLst/>
          </a:prstGeom>
          <a:noFill/>
          <a:ln w="15716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771571" y="3186135"/>
            <a:ext cx="50008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 txBox="1"/>
          <p:nvPr/>
        </p:nvSpPr>
        <p:spPr>
          <a:xfrm>
            <a:off x="884865" y="3231855"/>
            <a:ext cx="27340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1314450" y="3186135"/>
            <a:ext cx="51435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 txBox="1"/>
          <p:nvPr/>
        </p:nvSpPr>
        <p:spPr>
          <a:xfrm>
            <a:off x="1312896" y="3231855"/>
            <a:ext cx="51745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1871685" y="3186135"/>
            <a:ext cx="485821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144">
            <a:solidFill>
              <a:srgbClr val="A0A8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 txBox="1"/>
          <p:nvPr/>
        </p:nvSpPr>
        <p:spPr>
          <a:xfrm>
            <a:off x="1852940" y="3231855"/>
            <a:ext cx="523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</a:t>
            </a:r>
            <a:endParaRPr lang="en-US" sz="680" dirty="0"/>
          </a:p>
        </p:txBody>
      </p:sp>
      <p:sp>
        <p:nvSpPr>
          <p:cNvPr id="65" name="Text 63"/>
          <p:cNvSpPr txBox="1"/>
          <p:nvPr/>
        </p:nvSpPr>
        <p:spPr>
          <a:xfrm>
            <a:off x="2571750" y="1699047"/>
            <a:ext cx="11263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waited: 5</a:t>
            </a:r>
            <a:endParaRPr lang="en-US" sz="1010" dirty="0"/>
          </a:p>
        </p:txBody>
      </p:sp>
      <p:sp>
        <p:nvSpPr>
          <p:cNvPr id="66" name="Text 64"/>
          <p:cNvSpPr txBox="1"/>
          <p:nvPr/>
        </p:nvSpPr>
        <p:spPr>
          <a:xfrm>
            <a:off x="2571750" y="1915119"/>
            <a:ext cx="116037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cost: −4.0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2571750" y="2268901"/>
            <a:ext cx="14750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region: A</a:t>
            </a:r>
            <a:endParaRPr lang="en-US" sz="1130" dirty="0"/>
          </a:p>
        </p:txBody>
      </p:sp>
      <p:sp>
        <p:nvSpPr>
          <p:cNvPr id="68" name="Text 66"/>
          <p:cNvSpPr txBox="1"/>
          <p:nvPr/>
        </p:nvSpPr>
        <p:spPr>
          <a:xfrm>
            <a:off x="2571750" y="2526030"/>
            <a:ext cx="10197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+10</a:t>
            </a:r>
            <a:endParaRPr lang="en-US" sz="1130" dirty="0"/>
          </a:p>
        </p:txBody>
      </p:sp>
      <p:sp>
        <p:nvSpPr>
          <p:cNvPr id="69" name="Text 67"/>
          <p:cNvSpPr txBox="1"/>
          <p:nvPr/>
        </p:nvSpPr>
        <p:spPr>
          <a:xfrm>
            <a:off x="2571750" y="2811780"/>
            <a:ext cx="1505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score +6.0</a:t>
            </a:r>
            <a:endParaRPr lang="en-US" sz="1130" dirty="0"/>
          </a:p>
        </p:txBody>
      </p:sp>
      <p:sp>
        <p:nvSpPr>
          <p:cNvPr id="70" name="Shape 68"/>
          <p:cNvSpPr/>
          <p:nvPr/>
        </p:nvSpPr>
        <p:spPr>
          <a:xfrm>
            <a:off x="4929165" y="1214415"/>
            <a:ext cx="3643335" cy="3071835"/>
          </a:xfrm>
          <a:prstGeom prst="roundRect">
            <a:avLst>
              <a:gd name="adj" fmla="val 3257"/>
            </a:avLst>
          </a:prstGeom>
          <a:solidFill>
            <a:srgbClr val="FAFBFD"/>
          </a:solidFill>
          <a:ln w="14288">
            <a:solidFill>
              <a:srgbClr val="96A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 txBox="1"/>
          <p:nvPr/>
        </p:nvSpPr>
        <p:spPr>
          <a:xfrm>
            <a:off x="5086350" y="1358707"/>
            <a:ext cx="385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5843565" y="1357061"/>
            <a:ext cx="274173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Informed block (actual 2×15 rounds)</a:t>
            </a:r>
            <a:endParaRPr lang="en-US" sz="960" dirty="0"/>
          </a:p>
        </p:txBody>
      </p:sp>
      <p:sp>
        <p:nvSpPr>
          <p:cNvPr id="73" name="Text 71"/>
          <p:cNvSpPr txBox="1"/>
          <p:nvPr/>
        </p:nvSpPr>
        <p:spPr>
          <a:xfrm>
            <a:off x="5086350" y="1673078"/>
            <a:ext cx="428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40" dirty="0"/>
          </a:p>
        </p:txBody>
      </p:sp>
      <p:sp>
        <p:nvSpPr>
          <p:cNvPr id="74" name="Text 72"/>
          <p:cNvSpPr txBox="1"/>
          <p:nvPr/>
        </p:nvSpPr>
        <p:spPr>
          <a:xfrm>
            <a:off x="5843565" y="1671340"/>
            <a:ext cx="235586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lenient → harsh → lenient</a:t>
            </a:r>
            <a:endParaRPr lang="en-US" sz="960" dirty="0"/>
          </a:p>
        </p:txBody>
      </p:sp>
      <p:sp>
        <p:nvSpPr>
          <p:cNvPr id="75" name="Text 73"/>
          <p:cNvSpPr txBox="1"/>
          <p:nvPr/>
        </p:nvSpPr>
        <p:spPr>
          <a:xfrm>
            <a:off x="5086350" y="1987357"/>
            <a:ext cx="8432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world</a:t>
            </a:r>
            <a:endParaRPr lang="en-US" sz="840" dirty="0"/>
          </a:p>
        </p:txBody>
      </p:sp>
      <p:sp>
        <p:nvSpPr>
          <p:cNvPr id="76" name="Shape 74"/>
          <p:cNvSpPr/>
          <p:nvPr/>
        </p:nvSpPr>
        <p:spPr>
          <a:xfrm>
            <a:off x="5843565" y="1971721"/>
            <a:ext cx="1071585" cy="242865"/>
          </a:xfrm>
          <a:prstGeom prst="roundRect">
            <a:avLst>
              <a:gd name="adj" fmla="val 44126"/>
            </a:avLst>
          </a:prstGeom>
          <a:solidFill>
            <a:srgbClr val="FCE6E6"/>
          </a:solidFill>
          <a:ln w="14288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 txBox="1"/>
          <p:nvPr/>
        </p:nvSpPr>
        <p:spPr>
          <a:xfrm>
            <a:off x="5922569" y="1995952"/>
            <a:ext cx="91357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world</a:t>
            </a:r>
            <a:endParaRPr lang="en-US" sz="960" dirty="0"/>
          </a:p>
        </p:txBody>
      </p:sp>
      <p:sp>
        <p:nvSpPr>
          <p:cNvPr id="78" name="Text 76"/>
          <p:cNvSpPr txBox="1"/>
          <p:nvPr/>
        </p:nvSpPr>
        <p:spPr>
          <a:xfrm>
            <a:off x="5086350" y="2301728"/>
            <a:ext cx="8150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told?</a:t>
            </a:r>
            <a:endParaRPr lang="en-US" sz="840" dirty="0"/>
          </a:p>
        </p:txBody>
      </p:sp>
      <p:sp>
        <p:nvSpPr>
          <p:cNvPr id="79" name="Text 77"/>
          <p:cNvSpPr txBox="1"/>
          <p:nvPr/>
        </p:nvSpPr>
        <p:spPr>
          <a:xfrm>
            <a:off x="5843565" y="2299990"/>
            <a:ext cx="121624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explicitly told</a:t>
            </a:r>
            <a:endParaRPr lang="en-US" sz="960" dirty="0"/>
          </a:p>
        </p:txBody>
      </p:sp>
      <p:sp>
        <p:nvSpPr>
          <p:cNvPr id="80" name="Text 78"/>
          <p:cNvSpPr txBox="1"/>
          <p:nvPr/>
        </p:nvSpPr>
        <p:spPr>
          <a:xfrm>
            <a:off x="5086350" y="2630363"/>
            <a:ext cx="3715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40" dirty="0"/>
          </a:p>
        </p:txBody>
      </p:sp>
      <p:sp>
        <p:nvSpPr>
          <p:cNvPr id="81" name="Text 79"/>
          <p:cNvSpPr txBox="1"/>
          <p:nvPr/>
        </p:nvSpPr>
        <p:spPr>
          <a:xfrm>
            <a:off x="5843565" y="2628626"/>
            <a:ext cx="2906603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Beliefs vs. preferences: what vanishes once</a:t>
            </a:r>
            <a:endParaRPr lang="en-US" sz="960" dirty="0"/>
          </a:p>
        </p:txBody>
      </p:sp>
      <p:sp>
        <p:nvSpPr>
          <p:cNvPr id="82" name="Text 80"/>
          <p:cNvSpPr txBox="1"/>
          <p:nvPr/>
        </p:nvSpPr>
        <p:spPr>
          <a:xfrm>
            <a:off x="5843565" y="2814340"/>
            <a:ext cx="84097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told is belief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5086350" y="3128985"/>
            <a:ext cx="3343321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 txBox="1"/>
          <p:nvPr/>
        </p:nvSpPr>
        <p:spPr>
          <a:xfrm>
            <a:off x="5086350" y="3216128"/>
            <a:ext cx="679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round</a:t>
            </a:r>
            <a:endParaRPr lang="en-US" sz="840" dirty="0"/>
          </a:p>
        </p:txBody>
      </p:sp>
      <p:sp>
        <p:nvSpPr>
          <p:cNvPr id="85" name="Text 83"/>
          <p:cNvSpPr txBox="1"/>
          <p:nvPr/>
        </p:nvSpPr>
        <p:spPr>
          <a:xfrm>
            <a:off x="5843565" y="3214390"/>
            <a:ext cx="2781605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5 steps | optimal here ≈ 4.7 steps</a:t>
            </a:r>
            <a:endParaRPr lang="en-US" sz="960" dirty="0"/>
          </a:p>
        </p:txBody>
      </p:sp>
      <p:sp>
        <p:nvSpPr>
          <p:cNvPr id="86" name="Text 84"/>
          <p:cNvSpPr txBox="1"/>
          <p:nvPr/>
        </p:nvSpPr>
        <p:spPr>
          <a:xfrm>
            <a:off x="5086350" y="3444728"/>
            <a:ext cx="7862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learner</a:t>
            </a:r>
            <a:endParaRPr lang="en-US" sz="840" dirty="0"/>
          </a:p>
        </p:txBody>
      </p:sp>
      <p:sp>
        <p:nvSpPr>
          <p:cNvPr id="87" name="Text 85"/>
          <p:cNvSpPr txBox="1"/>
          <p:nvPr/>
        </p:nvSpPr>
        <p:spPr>
          <a:xfrm>
            <a:off x="5086350" y="3597341"/>
            <a:ext cx="7403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P(harsh world)</a:t>
            </a:r>
            <a:endParaRPr lang="en-US" sz="680" dirty="0"/>
          </a:p>
        </p:txBody>
      </p:sp>
      <p:sp>
        <p:nvSpPr>
          <p:cNvPr id="88" name="Text 86"/>
          <p:cNvSpPr txBox="1"/>
          <p:nvPr/>
        </p:nvSpPr>
        <p:spPr>
          <a:xfrm>
            <a:off x="5843565" y="3514405"/>
            <a:ext cx="1748607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Told; no inference needed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Text 88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Waiting while knowing the world is harsh shows this person's harsh-world strategy, free of belief effects.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876882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Normative Benchmark: How the Ideal Learner Detects a Switch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214415" y="1071585"/>
            <a:ext cx="2238360" cy="2500335"/>
          </a:xfrm>
          <a:prstGeom prst="rect">
            <a:avLst/>
          </a:prstGeom>
          <a:solidFill>
            <a:srgbClr val="E2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1359256" y="1141903"/>
            <a:ext cx="194886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1: lenient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3452774" y="1071585"/>
            <a:ext cx="2238360" cy="2500335"/>
          </a:xfrm>
          <a:prstGeom prst="rect">
            <a:avLst/>
          </a:prstGeom>
          <a:solidFill>
            <a:srgbClr val="FCE6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3636112" y="1141903"/>
            <a:ext cx="187177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2: harsh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5691226" y="1071585"/>
            <a:ext cx="2238360" cy="2500335"/>
          </a:xfrm>
          <a:prstGeom prst="rect">
            <a:avLst/>
          </a:prstGeom>
          <a:solidFill>
            <a:srgbClr val="E2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5835975" y="1141903"/>
            <a:ext cx="194886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3: lenient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1214415" y="3571921"/>
            <a:ext cx="6715171" cy="91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214415" y="1071585"/>
            <a:ext cx="91" cy="2500335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214415" y="2321753"/>
            <a:ext cx="6715171" cy="91"/>
          </a:xfrm>
          <a:prstGeom prst="line">
            <a:avLst/>
          </a:prstGeom>
          <a:noFill/>
          <a:ln w="7144">
            <a:solidFill>
              <a:srgbClr val="B4BA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873343" y="3480481"/>
            <a:ext cx="26965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97082" y="2230313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20730" y="980145"/>
            <a:ext cx="4222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0623" y="3629619"/>
            <a:ext cx="1476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40852" y="3629619"/>
            <a:ext cx="2240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541081" y="3629619"/>
            <a:ext cx="3002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779441" y="3629619"/>
            <a:ext cx="3002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697742" y="3801069"/>
            <a:ext cx="174851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rounds (Group 1)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814090"/>
            <a:ext cx="295515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Belief: probability that the world is now harsh</a:t>
            </a:r>
            <a:endParaRPr lang="en-US" sz="96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1214415" y="1071585"/>
          <a:ext cx="6715171" cy="2500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3452774" y="2321753"/>
            <a:ext cx="268651" cy="91"/>
          </a:xfrm>
          <a:prstGeom prst="line">
            <a:avLst/>
          </a:prstGeom>
          <a:noFill/>
          <a:ln w="35719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3678540" y="2278868"/>
            <a:ext cx="85771" cy="8577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 txBox="1"/>
          <p:nvPr/>
        </p:nvSpPr>
        <p:spPr>
          <a:xfrm>
            <a:off x="3792840" y="2062521"/>
            <a:ext cx="194438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 rounds to cross 50%</a:t>
            </a:r>
            <a:endParaRPr lang="en-US" sz="1070" dirty="0"/>
          </a:p>
        </p:txBody>
      </p:sp>
      <p:sp>
        <p:nvSpPr>
          <p:cNvPr id="27" name="Shape 24"/>
          <p:cNvSpPr/>
          <p:nvPr/>
        </p:nvSpPr>
        <p:spPr>
          <a:xfrm>
            <a:off x="5691226" y="2321753"/>
            <a:ext cx="537210" cy="91"/>
          </a:xfrm>
          <a:prstGeom prst="line">
            <a:avLst/>
          </a:prstGeom>
          <a:noFill/>
          <a:ln w="35719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6185550" y="2278868"/>
            <a:ext cx="85771" cy="8577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 txBox="1"/>
          <p:nvPr/>
        </p:nvSpPr>
        <p:spPr>
          <a:xfrm>
            <a:off x="6299850" y="2391156"/>
            <a:ext cx="2034997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12 rounds to cross 50%</a:t>
            </a:r>
            <a:endParaRPr lang="en-US" sz="1070" dirty="0"/>
          </a:p>
        </p:txBody>
      </p:sp>
      <p:sp>
        <p:nvSpPr>
          <p:cNvPr id="30" name="Shape 27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35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every wrong answer, the ideal learner updates "which world am I in": a single −30 proves the world is harsh; a mere −2 favors lenient at 2:1.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2316"/>
            <a:ext cx="8768822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10" b="1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Normative Benchmark: How the Ideal Learner Detects a Switch</a:t>
            </a:r>
            <a:endParaRPr lang="en-US" sz="1910" dirty="0"/>
          </a:p>
        </p:txBody>
      </p:sp>
      <p:sp>
        <p:nvSpPr>
          <p:cNvPr id="3" name="Text 1"/>
          <p:cNvSpPr txBox="1"/>
          <p:nvPr/>
        </p:nvSpPr>
        <p:spPr>
          <a:xfrm>
            <a:off x="8167512" y="340065"/>
            <a:ext cx="404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113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71500" y="657271"/>
            <a:ext cx="8001000" cy="91"/>
          </a:xfrm>
          <a:prstGeom prst="line">
            <a:avLst/>
          </a:prstGeom>
          <a:noFill/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214415" y="1071585"/>
            <a:ext cx="2238360" cy="2500335"/>
          </a:xfrm>
          <a:prstGeom prst="rect">
            <a:avLst/>
          </a:prstGeom>
          <a:solidFill>
            <a:srgbClr val="E2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1359256" y="1141903"/>
            <a:ext cx="194886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1: lenient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3452774" y="1071585"/>
            <a:ext cx="2238360" cy="2500335"/>
          </a:xfrm>
          <a:prstGeom prst="rect">
            <a:avLst/>
          </a:prstGeom>
          <a:solidFill>
            <a:srgbClr val="FCE6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3636112" y="1141903"/>
            <a:ext cx="187177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2: harsh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5691226" y="1071585"/>
            <a:ext cx="2238360" cy="2500335"/>
          </a:xfrm>
          <a:prstGeom prst="rect">
            <a:avLst/>
          </a:prstGeom>
          <a:solidFill>
            <a:srgbClr val="E2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5835975" y="1141903"/>
            <a:ext cx="194886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stage 3: lenient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1214415" y="3571921"/>
            <a:ext cx="6715171" cy="91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214415" y="1071585"/>
            <a:ext cx="91" cy="2500335"/>
          </a:xfrm>
          <a:prstGeom prst="line">
            <a:avLst/>
          </a:prstGeom>
          <a:noFill/>
          <a:ln w="14288">
            <a:solidFill>
              <a:srgbClr val="1C21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214415" y="2321753"/>
            <a:ext cx="6715171" cy="91"/>
          </a:xfrm>
          <a:prstGeom prst="line">
            <a:avLst/>
          </a:prstGeom>
          <a:noFill/>
          <a:ln w="7144">
            <a:solidFill>
              <a:srgbClr val="B4BA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873343" y="3480481"/>
            <a:ext cx="26965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97082" y="2230313"/>
            <a:ext cx="3459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20730" y="980145"/>
            <a:ext cx="4222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0623" y="3629619"/>
            <a:ext cx="1476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40852" y="3629619"/>
            <a:ext cx="2240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541081" y="3629619"/>
            <a:ext cx="3002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779441" y="3629619"/>
            <a:ext cx="30028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697742" y="3801069"/>
            <a:ext cx="174851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Main-task rounds (Group 1)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814090"/>
            <a:ext cx="2955158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Belief: probability that the world is now harsh</a:t>
            </a:r>
            <a:endParaRPr lang="en-US" sz="96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1214415" y="1071585"/>
          <a:ext cx="6715171" cy="2500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3452774" y="2321753"/>
            <a:ext cx="268651" cy="91"/>
          </a:xfrm>
          <a:prstGeom prst="line">
            <a:avLst/>
          </a:prstGeom>
          <a:noFill/>
          <a:ln w="35719">
            <a:solidFill>
              <a:srgbClr val="CD37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3678540" y="2278868"/>
            <a:ext cx="85771" cy="85771"/>
          </a:xfrm>
          <a:prstGeom prst="ellipse">
            <a:avLst/>
          </a:prstGeom>
          <a:solidFill>
            <a:srgbClr val="CD37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 txBox="1"/>
          <p:nvPr/>
        </p:nvSpPr>
        <p:spPr>
          <a:xfrm>
            <a:off x="3792840" y="2062521"/>
            <a:ext cx="194438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CD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 rounds to cross 50%</a:t>
            </a:r>
            <a:endParaRPr lang="en-US" sz="1070" dirty="0"/>
          </a:p>
        </p:txBody>
      </p:sp>
      <p:sp>
        <p:nvSpPr>
          <p:cNvPr id="27" name="Shape 24"/>
          <p:cNvSpPr/>
          <p:nvPr/>
        </p:nvSpPr>
        <p:spPr>
          <a:xfrm>
            <a:off x="5691226" y="2321753"/>
            <a:ext cx="537210" cy="91"/>
          </a:xfrm>
          <a:prstGeom prst="line">
            <a:avLst/>
          </a:prstGeom>
          <a:noFill/>
          <a:ln w="35719">
            <a:solidFill>
              <a:srgbClr val="2296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6185550" y="2278868"/>
            <a:ext cx="85771" cy="85771"/>
          </a:xfrm>
          <a:prstGeom prst="ellipse">
            <a:avLst/>
          </a:prstGeom>
          <a:solidFill>
            <a:srgbClr val="22965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 txBox="1"/>
          <p:nvPr/>
        </p:nvSpPr>
        <p:spPr>
          <a:xfrm>
            <a:off x="6299850" y="2391156"/>
            <a:ext cx="2034997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22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12 rounds to cross 50%</a:t>
            </a:r>
            <a:endParaRPr lang="en-US" sz="1070" dirty="0"/>
          </a:p>
        </p:txBody>
      </p:sp>
      <p:sp>
        <p:nvSpPr>
          <p:cNvPr id="30" name="Shape 27"/>
          <p:cNvSpPr/>
          <p:nvPr/>
        </p:nvSpPr>
        <p:spPr>
          <a:xfrm>
            <a:off x="571500" y="4372021"/>
            <a:ext cx="8001000" cy="628650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 w="7144">
            <a:solidFill>
              <a:srgbClr val="D6DB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 txBox="1"/>
          <p:nvPr/>
        </p:nvSpPr>
        <p:spPr>
          <a:xfrm>
            <a:off x="785835" y="4386285"/>
            <a:ext cx="7751003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4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 crosses 50% about 6 rounds after entering the harsh world but about 12 after leaving it: cautious play makes fewer errors, so evidence arrives slowly. Only adapting slower than this curve counts as true lag.</a:t>
            </a:r>
            <a:endParaRPr lang="en-US" sz="124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00028" y="1328715"/>
            <a:ext cx="17439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70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session</a:t>
            </a:r>
            <a:endParaRPr lang="en-US" sz="1690" dirty="0"/>
          </a:p>
        </p:txBody>
      </p:sp>
      <p:sp>
        <p:nvSpPr>
          <p:cNvPr id="3" name="Text 1"/>
          <p:cNvSpPr txBox="1"/>
          <p:nvPr/>
        </p:nvSpPr>
        <p:spPr>
          <a:xfrm>
            <a:off x="3110149" y="1763055"/>
            <a:ext cx="2923703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40" b="1" dirty="0">
                <a:solidFill>
                  <a:srgbClr val="2F6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226 rounds</a:t>
            </a:r>
            <a:endParaRPr lang="en-US" sz="3040" dirty="0"/>
          </a:p>
        </p:txBody>
      </p:sp>
      <p:sp>
        <p:nvSpPr>
          <p:cNvPr id="4" name="Text 2"/>
          <p:cNvSpPr txBox="1"/>
          <p:nvPr/>
        </p:nvSpPr>
        <p:spPr>
          <a:xfrm>
            <a:off x="799551" y="2481773"/>
            <a:ext cx="754489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6 · Baseline 30 · Prior block 10 · Main-task stages 3 × 50 · Informed block 2 × 15</a:t>
            </a:r>
            <a:endParaRPr lang="en-US" sz="1240" dirty="0"/>
          </a:p>
        </p:txBody>
      </p:sp>
      <p:sp>
        <p:nvSpPr>
          <p:cNvPr id="5" name="Text 3"/>
          <p:cNvSpPr txBox="1"/>
          <p:nvPr/>
        </p:nvSpPr>
        <p:spPr>
          <a:xfrm>
            <a:off x="572140" y="3208995"/>
            <a:ext cx="799962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60" dirty="0">
                <a:solidFill>
                  <a:srgbClr val="1C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 distinguishes: deficit vs. mismatch · beliefs vs. preferences · lag</a:t>
            </a:r>
            <a:endParaRPr lang="en-US" sz="14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8358</Words>
  <Application>Microsoft Macintosh PowerPoint</Application>
  <PresentationFormat>全屏显示(16:9)</PresentationFormat>
  <Paragraphs>1753</Paragraphs>
  <Slides>49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1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Experimental Mechanism Demo</dc:title>
  <dc:subject>PptxGenJS Presentation</dc:subject>
  <dc:creator>PptxGenJS</dc:creator>
  <cp:lastModifiedBy>e7577</cp:lastModifiedBy>
  <cp:revision>2</cp:revision>
  <dcterms:created xsi:type="dcterms:W3CDTF">2026-10-04T23:25:25Z</dcterms:created>
  <dcterms:modified xsi:type="dcterms:W3CDTF">2026-10-04T23:31:43Z</dcterms:modified>
</cp:coreProperties>
</file>